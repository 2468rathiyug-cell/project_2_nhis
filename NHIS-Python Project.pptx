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0" r:id="rId4"/>
    <p:sldId id="269" r:id="rId5"/>
    <p:sldId id="272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468rathiyug@gmail.com" initials="2" lastIdx="1" clrIdx="0">
    <p:extLst>
      <p:ext uri="{19B8F6BF-5375-455C-9EA6-DF929625EA0E}">
        <p15:presenceInfo xmlns:p15="http://schemas.microsoft.com/office/powerpoint/2012/main" userId="d4b6ce58f237218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2E5CC4-5713-418B-816B-E87C8947090E}" v="12" dt="2026-02-22T17:21:01.581"/>
    <p1510:client id="{FCD05262-728F-452F-ADE2-F93839AE1B28}" v="422" dt="2026-02-22T18:17:04.8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085F51-89AE-45D1-ABD6-7F415B9F5BF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CEC1F7-C0C5-430E-B582-DA88BA695B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Unit conversion is an essential requirement in various fields such as education, engineering, finance, and daily life.</a:t>
          </a:r>
        </a:p>
      </dgm:t>
    </dgm:pt>
    <dgm:pt modelId="{14B3C82D-B428-481B-BB1E-58A758958740}" type="parTrans" cxnId="{194422D0-C251-403C-A865-4071E3FF084A}">
      <dgm:prSet/>
      <dgm:spPr/>
      <dgm:t>
        <a:bodyPr/>
        <a:lstStyle/>
        <a:p>
          <a:endParaRPr lang="en-US"/>
        </a:p>
      </dgm:t>
    </dgm:pt>
    <dgm:pt modelId="{E646BFFF-AE5F-451F-9B7A-B510DBD824B5}" type="sibTrans" cxnId="{194422D0-C251-403C-A865-4071E3FF084A}">
      <dgm:prSet/>
      <dgm:spPr/>
      <dgm:t>
        <a:bodyPr/>
        <a:lstStyle/>
        <a:p>
          <a:endParaRPr lang="en-US"/>
        </a:p>
      </dgm:t>
    </dgm:pt>
    <dgm:pt modelId="{49D9487E-DD12-4607-AEC3-B063DC45EF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Different measurement systems are used worldwide, creating the need for accurate and quick conversion between units.</a:t>
          </a:r>
        </a:p>
      </dgm:t>
    </dgm:pt>
    <dgm:pt modelId="{7B4C7EAB-59FB-45A9-97E2-E86FDFAF5E20}" type="parTrans" cxnId="{7F958BD1-C2F6-466A-8B39-70A053A6503C}">
      <dgm:prSet/>
      <dgm:spPr/>
      <dgm:t>
        <a:bodyPr/>
        <a:lstStyle/>
        <a:p>
          <a:endParaRPr lang="en-US"/>
        </a:p>
      </dgm:t>
    </dgm:pt>
    <dgm:pt modelId="{04E59414-26A3-4EE9-9E8A-7EB3771F236A}" type="sibTrans" cxnId="{7F958BD1-C2F6-466A-8B39-70A053A6503C}">
      <dgm:prSet/>
      <dgm:spPr/>
      <dgm:t>
        <a:bodyPr/>
        <a:lstStyle/>
        <a:p>
          <a:endParaRPr lang="en-US"/>
        </a:p>
      </dgm:t>
    </dgm:pt>
    <dgm:pt modelId="{1AAA43AC-D744-4536-BC02-D7D643A4E8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Manual conversion methods can be complex, time-consuming, and prone to errors.</a:t>
          </a:r>
        </a:p>
      </dgm:t>
    </dgm:pt>
    <dgm:pt modelId="{010127C5-7FE2-418A-A598-097F0A48CB10}" type="parTrans" cxnId="{7FF2C569-C206-4916-A679-A98063210A8E}">
      <dgm:prSet/>
      <dgm:spPr/>
      <dgm:t>
        <a:bodyPr/>
        <a:lstStyle/>
        <a:p>
          <a:endParaRPr lang="en-US"/>
        </a:p>
      </dgm:t>
    </dgm:pt>
    <dgm:pt modelId="{6E04B690-A8AF-49E7-8D0E-C7057474E821}" type="sibTrans" cxnId="{7FF2C569-C206-4916-A679-A98063210A8E}">
      <dgm:prSet/>
      <dgm:spPr/>
      <dgm:t>
        <a:bodyPr/>
        <a:lstStyle/>
        <a:p>
          <a:endParaRPr lang="en-US"/>
        </a:p>
      </dgm:t>
    </dgm:pt>
    <dgm:pt modelId="{6A2CA142-862B-4DBB-AD92-47D50AD5D5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Unit Converter Calculator is designed to provide a </a:t>
          </a:r>
          <a:r>
            <a:rPr lang="en-US" b="1"/>
            <a:t>simple, fast, and reliable solution</a:t>
          </a:r>
          <a:r>
            <a:rPr lang="en-US"/>
            <a:t> for converting multiple unit types in one application.</a:t>
          </a:r>
        </a:p>
      </dgm:t>
    </dgm:pt>
    <dgm:pt modelId="{39D2390F-044F-449C-A203-B463FAB188CB}" type="parTrans" cxnId="{25787C81-2995-46E9-B58A-111179CF7392}">
      <dgm:prSet/>
      <dgm:spPr/>
      <dgm:t>
        <a:bodyPr/>
        <a:lstStyle/>
        <a:p>
          <a:endParaRPr lang="en-US"/>
        </a:p>
      </dgm:t>
    </dgm:pt>
    <dgm:pt modelId="{B3A1549D-AE0C-4549-9310-6DF9FD707885}" type="sibTrans" cxnId="{25787C81-2995-46E9-B58A-111179CF7392}">
      <dgm:prSet/>
      <dgm:spPr/>
      <dgm:t>
        <a:bodyPr/>
        <a:lstStyle/>
        <a:p>
          <a:endParaRPr lang="en-US"/>
        </a:p>
      </dgm:t>
    </dgm:pt>
    <dgm:pt modelId="{18848F9D-357D-4D57-8FB4-9FACC01A03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offers an </a:t>
          </a:r>
          <a:r>
            <a:rPr lang="en-US" b="1"/>
            <a:t>intuitive user interface and efficient functionality</a:t>
          </a:r>
          <a:r>
            <a:rPr lang="en-US"/>
            <a:t>, ensuring a smooth and user-friendly experience.</a:t>
          </a:r>
        </a:p>
      </dgm:t>
    </dgm:pt>
    <dgm:pt modelId="{1840C7EC-FE89-4B38-AB0E-A8C4E7DE552F}" type="parTrans" cxnId="{B0F5D89E-3043-48AB-82EC-09374C9C7A70}">
      <dgm:prSet/>
      <dgm:spPr/>
      <dgm:t>
        <a:bodyPr/>
        <a:lstStyle/>
        <a:p>
          <a:endParaRPr lang="en-US"/>
        </a:p>
      </dgm:t>
    </dgm:pt>
    <dgm:pt modelId="{096A06BF-3E30-4DF9-90DB-D0D53D36C654}" type="sibTrans" cxnId="{B0F5D89E-3043-48AB-82EC-09374C9C7A70}">
      <dgm:prSet/>
      <dgm:spPr/>
      <dgm:t>
        <a:bodyPr/>
        <a:lstStyle/>
        <a:p>
          <a:endParaRPr lang="en-US"/>
        </a:p>
      </dgm:t>
    </dgm:pt>
    <dgm:pt modelId="{5C4FFD76-D5A7-4158-BB85-A42E06952B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application helps users perform conversions accurately, improving productivity and reducing calculation effort.</a:t>
          </a:r>
        </a:p>
      </dgm:t>
    </dgm:pt>
    <dgm:pt modelId="{8766AA49-51DB-4E47-A3D6-7DDD98119ADE}" type="parTrans" cxnId="{0C5FDCE6-8504-472E-830A-B185028C8DEA}">
      <dgm:prSet/>
      <dgm:spPr/>
      <dgm:t>
        <a:bodyPr/>
        <a:lstStyle/>
        <a:p>
          <a:endParaRPr lang="en-US"/>
        </a:p>
      </dgm:t>
    </dgm:pt>
    <dgm:pt modelId="{2B0C28E9-639C-446C-A849-C3B09700EDD0}" type="sibTrans" cxnId="{0C5FDCE6-8504-472E-830A-B185028C8DEA}">
      <dgm:prSet/>
      <dgm:spPr/>
      <dgm:t>
        <a:bodyPr/>
        <a:lstStyle/>
        <a:p>
          <a:endParaRPr lang="en-US"/>
        </a:p>
      </dgm:t>
    </dgm:pt>
    <dgm:pt modelId="{191ABC42-1834-4BE8-8034-F11732B4D698}" type="pres">
      <dgm:prSet presAssocID="{63085F51-89AE-45D1-ABD6-7F415B9F5BFC}" presName="root" presStyleCnt="0">
        <dgm:presLayoutVars>
          <dgm:dir/>
          <dgm:resizeHandles val="exact"/>
        </dgm:presLayoutVars>
      </dgm:prSet>
      <dgm:spPr/>
    </dgm:pt>
    <dgm:pt modelId="{01F354DB-7B89-4F18-A292-F713BB71DAEC}" type="pres">
      <dgm:prSet presAssocID="{68CEC1F7-C0C5-430E-B582-DA88BA695BBE}" presName="compNode" presStyleCnt="0"/>
      <dgm:spPr/>
    </dgm:pt>
    <dgm:pt modelId="{58804BE8-D0C2-4E2F-B0EB-EC8F48B0809D}" type="pres">
      <dgm:prSet presAssocID="{68CEC1F7-C0C5-430E-B582-DA88BA695BBE}" presName="bgRect" presStyleLbl="bgShp" presStyleIdx="0" presStyleCnt="6"/>
      <dgm:spPr/>
    </dgm:pt>
    <dgm:pt modelId="{01B00E4E-9DB8-4D54-A522-E5CB1648A382}" type="pres">
      <dgm:prSet presAssocID="{68CEC1F7-C0C5-430E-B582-DA88BA695BB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EB6D952-5ECB-401E-BF51-2A89B27EA3FE}" type="pres">
      <dgm:prSet presAssocID="{68CEC1F7-C0C5-430E-B582-DA88BA695BBE}" presName="spaceRect" presStyleCnt="0"/>
      <dgm:spPr/>
    </dgm:pt>
    <dgm:pt modelId="{A0306C10-CB29-4A3D-9A28-495CC13701AD}" type="pres">
      <dgm:prSet presAssocID="{68CEC1F7-C0C5-430E-B582-DA88BA695BBE}" presName="parTx" presStyleLbl="revTx" presStyleIdx="0" presStyleCnt="6">
        <dgm:presLayoutVars>
          <dgm:chMax val="0"/>
          <dgm:chPref val="0"/>
        </dgm:presLayoutVars>
      </dgm:prSet>
      <dgm:spPr/>
    </dgm:pt>
    <dgm:pt modelId="{A73958D5-3DE3-4AC8-8CB1-A6DB731CB7E8}" type="pres">
      <dgm:prSet presAssocID="{E646BFFF-AE5F-451F-9B7A-B510DBD824B5}" presName="sibTrans" presStyleCnt="0"/>
      <dgm:spPr/>
    </dgm:pt>
    <dgm:pt modelId="{02C5E25D-B505-4402-AACC-E755FE42641F}" type="pres">
      <dgm:prSet presAssocID="{49D9487E-DD12-4607-AEC3-B063DC45EF8B}" presName="compNode" presStyleCnt="0"/>
      <dgm:spPr/>
    </dgm:pt>
    <dgm:pt modelId="{A5B0A316-1235-49D5-AC12-ECC25A3C2ACD}" type="pres">
      <dgm:prSet presAssocID="{49D9487E-DD12-4607-AEC3-B063DC45EF8B}" presName="bgRect" presStyleLbl="bgShp" presStyleIdx="1" presStyleCnt="6"/>
      <dgm:spPr/>
    </dgm:pt>
    <dgm:pt modelId="{7656D456-8000-4D28-A2A8-AB01334AB600}" type="pres">
      <dgm:prSet presAssocID="{49D9487E-DD12-4607-AEC3-B063DC45EF8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7B26EA07-8C98-45FD-928C-2C401DF5AC74}" type="pres">
      <dgm:prSet presAssocID="{49D9487E-DD12-4607-AEC3-B063DC45EF8B}" presName="spaceRect" presStyleCnt="0"/>
      <dgm:spPr/>
    </dgm:pt>
    <dgm:pt modelId="{F23B18A6-D893-45CD-BA72-B64DD72CD2C2}" type="pres">
      <dgm:prSet presAssocID="{49D9487E-DD12-4607-AEC3-B063DC45EF8B}" presName="parTx" presStyleLbl="revTx" presStyleIdx="1" presStyleCnt="6">
        <dgm:presLayoutVars>
          <dgm:chMax val="0"/>
          <dgm:chPref val="0"/>
        </dgm:presLayoutVars>
      </dgm:prSet>
      <dgm:spPr/>
    </dgm:pt>
    <dgm:pt modelId="{3FCB2B26-640E-45E3-8F4B-6AC116EFF905}" type="pres">
      <dgm:prSet presAssocID="{04E59414-26A3-4EE9-9E8A-7EB3771F236A}" presName="sibTrans" presStyleCnt="0"/>
      <dgm:spPr/>
    </dgm:pt>
    <dgm:pt modelId="{1474F893-771F-4269-9E14-BE41283E1E36}" type="pres">
      <dgm:prSet presAssocID="{1AAA43AC-D744-4536-BC02-D7D643A4E874}" presName="compNode" presStyleCnt="0"/>
      <dgm:spPr/>
    </dgm:pt>
    <dgm:pt modelId="{3D1511F2-0753-494F-AF18-9188336ADB4C}" type="pres">
      <dgm:prSet presAssocID="{1AAA43AC-D744-4536-BC02-D7D643A4E874}" presName="bgRect" presStyleLbl="bgShp" presStyleIdx="2" presStyleCnt="6"/>
      <dgm:spPr/>
    </dgm:pt>
    <dgm:pt modelId="{9353614A-CF5E-49D4-842D-3FD412750922}" type="pres">
      <dgm:prSet presAssocID="{1AAA43AC-D744-4536-BC02-D7D643A4E87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F07A2BF9-B77C-46E2-89E5-833701C7CBBC}" type="pres">
      <dgm:prSet presAssocID="{1AAA43AC-D744-4536-BC02-D7D643A4E874}" presName="spaceRect" presStyleCnt="0"/>
      <dgm:spPr/>
    </dgm:pt>
    <dgm:pt modelId="{F3A73D78-2E1B-46FE-9944-C96956FC7B1E}" type="pres">
      <dgm:prSet presAssocID="{1AAA43AC-D744-4536-BC02-D7D643A4E874}" presName="parTx" presStyleLbl="revTx" presStyleIdx="2" presStyleCnt="6">
        <dgm:presLayoutVars>
          <dgm:chMax val="0"/>
          <dgm:chPref val="0"/>
        </dgm:presLayoutVars>
      </dgm:prSet>
      <dgm:spPr/>
    </dgm:pt>
    <dgm:pt modelId="{A9A2C96C-008D-4C51-9909-52F93AC19113}" type="pres">
      <dgm:prSet presAssocID="{6E04B690-A8AF-49E7-8D0E-C7057474E821}" presName="sibTrans" presStyleCnt="0"/>
      <dgm:spPr/>
    </dgm:pt>
    <dgm:pt modelId="{9347A471-B9AC-41F2-868E-92FE5EE8EDC5}" type="pres">
      <dgm:prSet presAssocID="{6A2CA142-862B-4DBB-AD92-47D50AD5D54B}" presName="compNode" presStyleCnt="0"/>
      <dgm:spPr/>
    </dgm:pt>
    <dgm:pt modelId="{6D458249-6B19-439C-9144-C861DB5618FF}" type="pres">
      <dgm:prSet presAssocID="{6A2CA142-862B-4DBB-AD92-47D50AD5D54B}" presName="bgRect" presStyleLbl="bgShp" presStyleIdx="3" presStyleCnt="6"/>
      <dgm:spPr/>
    </dgm:pt>
    <dgm:pt modelId="{6468AA24-CC2C-4A71-B746-A54612CD0964}" type="pres">
      <dgm:prSet presAssocID="{6A2CA142-862B-4DBB-AD92-47D50AD5D54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773966F5-7CF3-4AB4-A706-E9F5545313A6}" type="pres">
      <dgm:prSet presAssocID="{6A2CA142-862B-4DBB-AD92-47D50AD5D54B}" presName="spaceRect" presStyleCnt="0"/>
      <dgm:spPr/>
    </dgm:pt>
    <dgm:pt modelId="{9C5AFE8C-27F4-447E-89B6-A887F28F86DF}" type="pres">
      <dgm:prSet presAssocID="{6A2CA142-862B-4DBB-AD92-47D50AD5D54B}" presName="parTx" presStyleLbl="revTx" presStyleIdx="3" presStyleCnt="6">
        <dgm:presLayoutVars>
          <dgm:chMax val="0"/>
          <dgm:chPref val="0"/>
        </dgm:presLayoutVars>
      </dgm:prSet>
      <dgm:spPr/>
    </dgm:pt>
    <dgm:pt modelId="{28595238-AE16-410A-8BA3-0E63972599FE}" type="pres">
      <dgm:prSet presAssocID="{B3A1549D-AE0C-4549-9310-6DF9FD707885}" presName="sibTrans" presStyleCnt="0"/>
      <dgm:spPr/>
    </dgm:pt>
    <dgm:pt modelId="{72148180-D916-465D-B654-0A858739F9B2}" type="pres">
      <dgm:prSet presAssocID="{18848F9D-357D-4D57-8FB4-9FACC01A0368}" presName="compNode" presStyleCnt="0"/>
      <dgm:spPr/>
    </dgm:pt>
    <dgm:pt modelId="{B2EEE435-FD8F-4D8E-979D-0E8B8FCD2ECA}" type="pres">
      <dgm:prSet presAssocID="{18848F9D-357D-4D57-8FB4-9FACC01A0368}" presName="bgRect" presStyleLbl="bgShp" presStyleIdx="4" presStyleCnt="6"/>
      <dgm:spPr/>
    </dgm:pt>
    <dgm:pt modelId="{D259F5E2-A6AC-4F17-8C72-B93764D238DE}" type="pres">
      <dgm:prSet presAssocID="{18848F9D-357D-4D57-8FB4-9FACC01A0368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03ABEF6-367D-466D-BDB6-FD69411F466C}" type="pres">
      <dgm:prSet presAssocID="{18848F9D-357D-4D57-8FB4-9FACC01A0368}" presName="spaceRect" presStyleCnt="0"/>
      <dgm:spPr/>
    </dgm:pt>
    <dgm:pt modelId="{542ABC63-DC8C-4D4A-A434-B9B0DC050763}" type="pres">
      <dgm:prSet presAssocID="{18848F9D-357D-4D57-8FB4-9FACC01A0368}" presName="parTx" presStyleLbl="revTx" presStyleIdx="4" presStyleCnt="6">
        <dgm:presLayoutVars>
          <dgm:chMax val="0"/>
          <dgm:chPref val="0"/>
        </dgm:presLayoutVars>
      </dgm:prSet>
      <dgm:spPr/>
    </dgm:pt>
    <dgm:pt modelId="{DD03AA4B-297D-4F2A-931D-BEE189CEBA30}" type="pres">
      <dgm:prSet presAssocID="{096A06BF-3E30-4DF9-90DB-D0D53D36C654}" presName="sibTrans" presStyleCnt="0"/>
      <dgm:spPr/>
    </dgm:pt>
    <dgm:pt modelId="{DCD95818-682F-489E-ABDF-A9E98205708E}" type="pres">
      <dgm:prSet presAssocID="{5C4FFD76-D5A7-4158-BB85-A42E06952BDA}" presName="compNode" presStyleCnt="0"/>
      <dgm:spPr/>
    </dgm:pt>
    <dgm:pt modelId="{E380657B-711C-4C40-A81F-17D08E5384CC}" type="pres">
      <dgm:prSet presAssocID="{5C4FFD76-D5A7-4158-BB85-A42E06952BDA}" presName="bgRect" presStyleLbl="bgShp" presStyleIdx="5" presStyleCnt="6"/>
      <dgm:spPr/>
    </dgm:pt>
    <dgm:pt modelId="{1BF5EE5E-41C2-4E28-88B5-50BD2928FEED}" type="pres">
      <dgm:prSet presAssocID="{5C4FFD76-D5A7-4158-BB85-A42E06952BD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679EB61-AFFA-4748-844E-8C88BB38F23F}" type="pres">
      <dgm:prSet presAssocID="{5C4FFD76-D5A7-4158-BB85-A42E06952BDA}" presName="spaceRect" presStyleCnt="0"/>
      <dgm:spPr/>
    </dgm:pt>
    <dgm:pt modelId="{07C22104-E212-45DE-BBEE-B1C6A3FF43AA}" type="pres">
      <dgm:prSet presAssocID="{5C4FFD76-D5A7-4158-BB85-A42E06952BD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D79A660F-F4FC-4739-B8B6-8CCEE7F7D31C}" type="presOf" srcId="{18848F9D-357D-4D57-8FB4-9FACC01A0368}" destId="{542ABC63-DC8C-4D4A-A434-B9B0DC050763}" srcOrd="0" destOrd="0" presId="urn:microsoft.com/office/officeart/2018/2/layout/IconVerticalSolidList"/>
    <dgm:cxn modelId="{05FF5B68-66B6-4FD0-8DF3-05C4B02E8E35}" type="presOf" srcId="{1AAA43AC-D744-4536-BC02-D7D643A4E874}" destId="{F3A73D78-2E1B-46FE-9944-C96956FC7B1E}" srcOrd="0" destOrd="0" presId="urn:microsoft.com/office/officeart/2018/2/layout/IconVerticalSolidList"/>
    <dgm:cxn modelId="{7FF2C569-C206-4916-A679-A98063210A8E}" srcId="{63085F51-89AE-45D1-ABD6-7F415B9F5BFC}" destId="{1AAA43AC-D744-4536-BC02-D7D643A4E874}" srcOrd="2" destOrd="0" parTransId="{010127C5-7FE2-418A-A598-097F0A48CB10}" sibTransId="{6E04B690-A8AF-49E7-8D0E-C7057474E821}"/>
    <dgm:cxn modelId="{5296976E-6F2F-4EEF-8B16-D28B7C8ADEBA}" type="presOf" srcId="{49D9487E-DD12-4607-AEC3-B063DC45EF8B}" destId="{F23B18A6-D893-45CD-BA72-B64DD72CD2C2}" srcOrd="0" destOrd="0" presId="urn:microsoft.com/office/officeart/2018/2/layout/IconVerticalSolidList"/>
    <dgm:cxn modelId="{B1002E75-D3FE-400E-A81F-A4E414D4D129}" type="presOf" srcId="{63085F51-89AE-45D1-ABD6-7F415B9F5BFC}" destId="{191ABC42-1834-4BE8-8034-F11732B4D698}" srcOrd="0" destOrd="0" presId="urn:microsoft.com/office/officeart/2018/2/layout/IconVerticalSolidList"/>
    <dgm:cxn modelId="{25787C81-2995-46E9-B58A-111179CF7392}" srcId="{63085F51-89AE-45D1-ABD6-7F415B9F5BFC}" destId="{6A2CA142-862B-4DBB-AD92-47D50AD5D54B}" srcOrd="3" destOrd="0" parTransId="{39D2390F-044F-449C-A203-B463FAB188CB}" sibTransId="{B3A1549D-AE0C-4549-9310-6DF9FD707885}"/>
    <dgm:cxn modelId="{B0F5D89E-3043-48AB-82EC-09374C9C7A70}" srcId="{63085F51-89AE-45D1-ABD6-7F415B9F5BFC}" destId="{18848F9D-357D-4D57-8FB4-9FACC01A0368}" srcOrd="4" destOrd="0" parTransId="{1840C7EC-FE89-4B38-AB0E-A8C4E7DE552F}" sibTransId="{096A06BF-3E30-4DF9-90DB-D0D53D36C654}"/>
    <dgm:cxn modelId="{3B117BAC-DA71-4455-B566-93A066AA5C33}" type="presOf" srcId="{5C4FFD76-D5A7-4158-BB85-A42E06952BDA}" destId="{07C22104-E212-45DE-BBEE-B1C6A3FF43AA}" srcOrd="0" destOrd="0" presId="urn:microsoft.com/office/officeart/2018/2/layout/IconVerticalSolidList"/>
    <dgm:cxn modelId="{194422D0-C251-403C-A865-4071E3FF084A}" srcId="{63085F51-89AE-45D1-ABD6-7F415B9F5BFC}" destId="{68CEC1F7-C0C5-430E-B582-DA88BA695BBE}" srcOrd="0" destOrd="0" parTransId="{14B3C82D-B428-481B-BB1E-58A758958740}" sibTransId="{E646BFFF-AE5F-451F-9B7A-B510DBD824B5}"/>
    <dgm:cxn modelId="{7F958BD1-C2F6-466A-8B39-70A053A6503C}" srcId="{63085F51-89AE-45D1-ABD6-7F415B9F5BFC}" destId="{49D9487E-DD12-4607-AEC3-B063DC45EF8B}" srcOrd="1" destOrd="0" parTransId="{7B4C7EAB-59FB-45A9-97E2-E86FDFAF5E20}" sibTransId="{04E59414-26A3-4EE9-9E8A-7EB3771F236A}"/>
    <dgm:cxn modelId="{794612E4-438D-4C24-9A11-822C43D46715}" type="presOf" srcId="{6A2CA142-862B-4DBB-AD92-47D50AD5D54B}" destId="{9C5AFE8C-27F4-447E-89B6-A887F28F86DF}" srcOrd="0" destOrd="0" presId="urn:microsoft.com/office/officeart/2018/2/layout/IconVerticalSolidList"/>
    <dgm:cxn modelId="{0C5FDCE6-8504-472E-830A-B185028C8DEA}" srcId="{63085F51-89AE-45D1-ABD6-7F415B9F5BFC}" destId="{5C4FFD76-D5A7-4158-BB85-A42E06952BDA}" srcOrd="5" destOrd="0" parTransId="{8766AA49-51DB-4E47-A3D6-7DDD98119ADE}" sibTransId="{2B0C28E9-639C-446C-A849-C3B09700EDD0}"/>
    <dgm:cxn modelId="{DDEFE3E7-A8EF-4BCA-A335-6E12479402C2}" type="presOf" srcId="{68CEC1F7-C0C5-430E-B582-DA88BA695BBE}" destId="{A0306C10-CB29-4A3D-9A28-495CC13701AD}" srcOrd="0" destOrd="0" presId="urn:microsoft.com/office/officeart/2018/2/layout/IconVerticalSolidList"/>
    <dgm:cxn modelId="{541AA78E-C445-4A7D-BF4F-D5E43C094F2D}" type="presParOf" srcId="{191ABC42-1834-4BE8-8034-F11732B4D698}" destId="{01F354DB-7B89-4F18-A292-F713BB71DAEC}" srcOrd="0" destOrd="0" presId="urn:microsoft.com/office/officeart/2018/2/layout/IconVerticalSolidList"/>
    <dgm:cxn modelId="{70966FEF-F0A1-441C-88DF-5D27E9A5FE03}" type="presParOf" srcId="{01F354DB-7B89-4F18-A292-F713BB71DAEC}" destId="{58804BE8-D0C2-4E2F-B0EB-EC8F48B0809D}" srcOrd="0" destOrd="0" presId="urn:microsoft.com/office/officeart/2018/2/layout/IconVerticalSolidList"/>
    <dgm:cxn modelId="{61786812-E055-43BC-ACBB-4463644C6CBE}" type="presParOf" srcId="{01F354DB-7B89-4F18-A292-F713BB71DAEC}" destId="{01B00E4E-9DB8-4D54-A522-E5CB1648A382}" srcOrd="1" destOrd="0" presId="urn:microsoft.com/office/officeart/2018/2/layout/IconVerticalSolidList"/>
    <dgm:cxn modelId="{CB0D633F-2BE2-4A3C-879C-B3DD6D09E5DE}" type="presParOf" srcId="{01F354DB-7B89-4F18-A292-F713BB71DAEC}" destId="{DEB6D952-5ECB-401E-BF51-2A89B27EA3FE}" srcOrd="2" destOrd="0" presId="urn:microsoft.com/office/officeart/2018/2/layout/IconVerticalSolidList"/>
    <dgm:cxn modelId="{F274DEA0-A848-4629-9D58-53CA893909D3}" type="presParOf" srcId="{01F354DB-7B89-4F18-A292-F713BB71DAEC}" destId="{A0306C10-CB29-4A3D-9A28-495CC13701AD}" srcOrd="3" destOrd="0" presId="urn:microsoft.com/office/officeart/2018/2/layout/IconVerticalSolidList"/>
    <dgm:cxn modelId="{0A98F150-D54B-4D3A-B6D4-A52E8D90FAF9}" type="presParOf" srcId="{191ABC42-1834-4BE8-8034-F11732B4D698}" destId="{A73958D5-3DE3-4AC8-8CB1-A6DB731CB7E8}" srcOrd="1" destOrd="0" presId="urn:microsoft.com/office/officeart/2018/2/layout/IconVerticalSolidList"/>
    <dgm:cxn modelId="{6FE37584-60DE-4B13-BD57-7605A0C225C3}" type="presParOf" srcId="{191ABC42-1834-4BE8-8034-F11732B4D698}" destId="{02C5E25D-B505-4402-AACC-E755FE42641F}" srcOrd="2" destOrd="0" presId="urn:microsoft.com/office/officeart/2018/2/layout/IconVerticalSolidList"/>
    <dgm:cxn modelId="{6D9B88A7-5657-42D2-B9D6-76FDB118E656}" type="presParOf" srcId="{02C5E25D-B505-4402-AACC-E755FE42641F}" destId="{A5B0A316-1235-49D5-AC12-ECC25A3C2ACD}" srcOrd="0" destOrd="0" presId="urn:microsoft.com/office/officeart/2018/2/layout/IconVerticalSolidList"/>
    <dgm:cxn modelId="{616FCB11-30C2-4E64-989E-F7A81939A394}" type="presParOf" srcId="{02C5E25D-B505-4402-AACC-E755FE42641F}" destId="{7656D456-8000-4D28-A2A8-AB01334AB600}" srcOrd="1" destOrd="0" presId="urn:microsoft.com/office/officeart/2018/2/layout/IconVerticalSolidList"/>
    <dgm:cxn modelId="{5C68D30F-0D20-492B-89B6-6EE3198CC5F1}" type="presParOf" srcId="{02C5E25D-B505-4402-AACC-E755FE42641F}" destId="{7B26EA07-8C98-45FD-928C-2C401DF5AC74}" srcOrd="2" destOrd="0" presId="urn:microsoft.com/office/officeart/2018/2/layout/IconVerticalSolidList"/>
    <dgm:cxn modelId="{87457546-D713-4087-A000-2507DAE0CD08}" type="presParOf" srcId="{02C5E25D-B505-4402-AACC-E755FE42641F}" destId="{F23B18A6-D893-45CD-BA72-B64DD72CD2C2}" srcOrd="3" destOrd="0" presId="urn:microsoft.com/office/officeart/2018/2/layout/IconVerticalSolidList"/>
    <dgm:cxn modelId="{72F348A7-BB4F-4E46-A0EB-2B9DF0EB9ECA}" type="presParOf" srcId="{191ABC42-1834-4BE8-8034-F11732B4D698}" destId="{3FCB2B26-640E-45E3-8F4B-6AC116EFF905}" srcOrd="3" destOrd="0" presId="urn:microsoft.com/office/officeart/2018/2/layout/IconVerticalSolidList"/>
    <dgm:cxn modelId="{EBFEC188-B64F-4B6E-9837-D8158EE38B60}" type="presParOf" srcId="{191ABC42-1834-4BE8-8034-F11732B4D698}" destId="{1474F893-771F-4269-9E14-BE41283E1E36}" srcOrd="4" destOrd="0" presId="urn:microsoft.com/office/officeart/2018/2/layout/IconVerticalSolidList"/>
    <dgm:cxn modelId="{F23FF553-30BE-491F-9B20-F2A2FCAB29BF}" type="presParOf" srcId="{1474F893-771F-4269-9E14-BE41283E1E36}" destId="{3D1511F2-0753-494F-AF18-9188336ADB4C}" srcOrd="0" destOrd="0" presId="urn:microsoft.com/office/officeart/2018/2/layout/IconVerticalSolidList"/>
    <dgm:cxn modelId="{D96B6DFD-BB8D-4123-8CBF-95CD374880BD}" type="presParOf" srcId="{1474F893-771F-4269-9E14-BE41283E1E36}" destId="{9353614A-CF5E-49D4-842D-3FD412750922}" srcOrd="1" destOrd="0" presId="urn:microsoft.com/office/officeart/2018/2/layout/IconVerticalSolidList"/>
    <dgm:cxn modelId="{163936EF-259D-42F0-B328-0E5FA7C645F7}" type="presParOf" srcId="{1474F893-771F-4269-9E14-BE41283E1E36}" destId="{F07A2BF9-B77C-46E2-89E5-833701C7CBBC}" srcOrd="2" destOrd="0" presId="urn:microsoft.com/office/officeart/2018/2/layout/IconVerticalSolidList"/>
    <dgm:cxn modelId="{70771ED2-CBDA-4C6F-96A6-2E6C18DD38EF}" type="presParOf" srcId="{1474F893-771F-4269-9E14-BE41283E1E36}" destId="{F3A73D78-2E1B-46FE-9944-C96956FC7B1E}" srcOrd="3" destOrd="0" presId="urn:microsoft.com/office/officeart/2018/2/layout/IconVerticalSolidList"/>
    <dgm:cxn modelId="{EAACC4C9-5BFC-4A2F-A14B-4DF72E234F25}" type="presParOf" srcId="{191ABC42-1834-4BE8-8034-F11732B4D698}" destId="{A9A2C96C-008D-4C51-9909-52F93AC19113}" srcOrd="5" destOrd="0" presId="urn:microsoft.com/office/officeart/2018/2/layout/IconVerticalSolidList"/>
    <dgm:cxn modelId="{603E04FB-CAB9-4DA3-ACA6-CCC50D90234E}" type="presParOf" srcId="{191ABC42-1834-4BE8-8034-F11732B4D698}" destId="{9347A471-B9AC-41F2-868E-92FE5EE8EDC5}" srcOrd="6" destOrd="0" presId="urn:microsoft.com/office/officeart/2018/2/layout/IconVerticalSolidList"/>
    <dgm:cxn modelId="{8E47CA36-A671-49C1-B767-E7E387F2C6AF}" type="presParOf" srcId="{9347A471-B9AC-41F2-868E-92FE5EE8EDC5}" destId="{6D458249-6B19-439C-9144-C861DB5618FF}" srcOrd="0" destOrd="0" presId="urn:microsoft.com/office/officeart/2018/2/layout/IconVerticalSolidList"/>
    <dgm:cxn modelId="{0E8DD095-5F1D-4FB8-8ABC-256A3AEDB4EB}" type="presParOf" srcId="{9347A471-B9AC-41F2-868E-92FE5EE8EDC5}" destId="{6468AA24-CC2C-4A71-B746-A54612CD0964}" srcOrd="1" destOrd="0" presId="urn:microsoft.com/office/officeart/2018/2/layout/IconVerticalSolidList"/>
    <dgm:cxn modelId="{0193B9F4-EAFA-4F97-884F-7D92DD7646AF}" type="presParOf" srcId="{9347A471-B9AC-41F2-868E-92FE5EE8EDC5}" destId="{773966F5-7CF3-4AB4-A706-E9F5545313A6}" srcOrd="2" destOrd="0" presId="urn:microsoft.com/office/officeart/2018/2/layout/IconVerticalSolidList"/>
    <dgm:cxn modelId="{16A8E5C3-188B-4240-A686-030C9B066888}" type="presParOf" srcId="{9347A471-B9AC-41F2-868E-92FE5EE8EDC5}" destId="{9C5AFE8C-27F4-447E-89B6-A887F28F86DF}" srcOrd="3" destOrd="0" presId="urn:microsoft.com/office/officeart/2018/2/layout/IconVerticalSolidList"/>
    <dgm:cxn modelId="{813D45D9-6F73-4736-95F0-1A8915E7A369}" type="presParOf" srcId="{191ABC42-1834-4BE8-8034-F11732B4D698}" destId="{28595238-AE16-410A-8BA3-0E63972599FE}" srcOrd="7" destOrd="0" presId="urn:microsoft.com/office/officeart/2018/2/layout/IconVerticalSolidList"/>
    <dgm:cxn modelId="{34CD6F4E-7288-47C0-9D1E-EC0D6F13D910}" type="presParOf" srcId="{191ABC42-1834-4BE8-8034-F11732B4D698}" destId="{72148180-D916-465D-B654-0A858739F9B2}" srcOrd="8" destOrd="0" presId="urn:microsoft.com/office/officeart/2018/2/layout/IconVerticalSolidList"/>
    <dgm:cxn modelId="{779C2750-C134-450E-9B63-5B425FAD6AEB}" type="presParOf" srcId="{72148180-D916-465D-B654-0A858739F9B2}" destId="{B2EEE435-FD8F-4D8E-979D-0E8B8FCD2ECA}" srcOrd="0" destOrd="0" presId="urn:microsoft.com/office/officeart/2018/2/layout/IconVerticalSolidList"/>
    <dgm:cxn modelId="{B2A4E4F0-3828-4C7F-940E-33596EF99623}" type="presParOf" srcId="{72148180-D916-465D-B654-0A858739F9B2}" destId="{D259F5E2-A6AC-4F17-8C72-B93764D238DE}" srcOrd="1" destOrd="0" presId="urn:microsoft.com/office/officeart/2018/2/layout/IconVerticalSolidList"/>
    <dgm:cxn modelId="{6B6AD674-ED42-46B8-A3FB-2F344F913251}" type="presParOf" srcId="{72148180-D916-465D-B654-0A858739F9B2}" destId="{C03ABEF6-367D-466D-BDB6-FD69411F466C}" srcOrd="2" destOrd="0" presId="urn:microsoft.com/office/officeart/2018/2/layout/IconVerticalSolidList"/>
    <dgm:cxn modelId="{3173D2D2-9B39-4C9C-BA10-34A096C23BD0}" type="presParOf" srcId="{72148180-D916-465D-B654-0A858739F9B2}" destId="{542ABC63-DC8C-4D4A-A434-B9B0DC050763}" srcOrd="3" destOrd="0" presId="urn:microsoft.com/office/officeart/2018/2/layout/IconVerticalSolidList"/>
    <dgm:cxn modelId="{607C8513-3F37-435B-B094-383F23334E1B}" type="presParOf" srcId="{191ABC42-1834-4BE8-8034-F11732B4D698}" destId="{DD03AA4B-297D-4F2A-931D-BEE189CEBA30}" srcOrd="9" destOrd="0" presId="urn:microsoft.com/office/officeart/2018/2/layout/IconVerticalSolidList"/>
    <dgm:cxn modelId="{42DBC50D-B258-4796-99A8-07EAEBB6D324}" type="presParOf" srcId="{191ABC42-1834-4BE8-8034-F11732B4D698}" destId="{DCD95818-682F-489E-ABDF-A9E98205708E}" srcOrd="10" destOrd="0" presId="urn:microsoft.com/office/officeart/2018/2/layout/IconVerticalSolidList"/>
    <dgm:cxn modelId="{6E6C374E-DBEC-4E05-A0BA-8D7BE21D9A4E}" type="presParOf" srcId="{DCD95818-682F-489E-ABDF-A9E98205708E}" destId="{E380657B-711C-4C40-A81F-17D08E5384CC}" srcOrd="0" destOrd="0" presId="urn:microsoft.com/office/officeart/2018/2/layout/IconVerticalSolidList"/>
    <dgm:cxn modelId="{3D530C4A-CFAE-4F7C-BE9D-1FA6478DC03D}" type="presParOf" srcId="{DCD95818-682F-489E-ABDF-A9E98205708E}" destId="{1BF5EE5E-41C2-4E28-88B5-50BD2928FEED}" srcOrd="1" destOrd="0" presId="urn:microsoft.com/office/officeart/2018/2/layout/IconVerticalSolidList"/>
    <dgm:cxn modelId="{B2C67697-F03F-4CCC-8316-7DACCF6286B4}" type="presParOf" srcId="{DCD95818-682F-489E-ABDF-A9E98205708E}" destId="{5679EB61-AFFA-4748-844E-8C88BB38F23F}" srcOrd="2" destOrd="0" presId="urn:microsoft.com/office/officeart/2018/2/layout/IconVerticalSolidList"/>
    <dgm:cxn modelId="{32834571-8441-4529-9CA0-5458FE0CD156}" type="presParOf" srcId="{DCD95818-682F-489E-ABDF-A9E98205708E}" destId="{07C22104-E212-45DE-BBEE-B1C6A3FF43A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8F8260-27B6-4044-ABF8-AD7970F1FD6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61F8530-BFB8-4941-94F9-672358882B35}">
      <dgm:prSet/>
      <dgm:spPr/>
      <dgm:t>
        <a:bodyPr/>
        <a:lstStyle/>
        <a:p>
          <a:r>
            <a:rPr lang="en-US"/>
            <a:t>Users often need to convert between different units such as currency, length, speed, volume, data, and angles in academic, professional, and daily activities.</a:t>
          </a:r>
        </a:p>
      </dgm:t>
    </dgm:pt>
    <dgm:pt modelId="{A9F2989A-0DDC-4D18-AD8F-0824221022D4}" type="parTrans" cxnId="{ADE8950D-C4AE-45F7-A7CA-04C622A5C7F4}">
      <dgm:prSet/>
      <dgm:spPr/>
      <dgm:t>
        <a:bodyPr/>
        <a:lstStyle/>
        <a:p>
          <a:endParaRPr lang="en-US"/>
        </a:p>
      </dgm:t>
    </dgm:pt>
    <dgm:pt modelId="{E944075C-DC8B-4371-8220-3EC19D5A33BC}" type="sibTrans" cxnId="{ADE8950D-C4AE-45F7-A7CA-04C622A5C7F4}">
      <dgm:prSet/>
      <dgm:spPr/>
      <dgm:t>
        <a:bodyPr/>
        <a:lstStyle/>
        <a:p>
          <a:endParaRPr lang="en-US"/>
        </a:p>
      </dgm:t>
    </dgm:pt>
    <dgm:pt modelId="{4C619709-1B8D-493B-B8C4-699B17B6E949}">
      <dgm:prSet/>
      <dgm:spPr/>
      <dgm:t>
        <a:bodyPr/>
        <a:lstStyle/>
        <a:p>
          <a:r>
            <a:rPr lang="en-US"/>
            <a:t>Existing solutions are often </a:t>
          </a:r>
          <a:r>
            <a:rPr lang="en-US" b="1"/>
            <a:t>fragmented, complex, or require internet access</a:t>
          </a:r>
          <a:r>
            <a:rPr lang="en-US"/>
            <a:t>, making quick and efficient conversion difficult.</a:t>
          </a:r>
        </a:p>
      </dgm:t>
    </dgm:pt>
    <dgm:pt modelId="{EEF4199F-1A0B-4E91-84C9-3A8585C0ED15}" type="parTrans" cxnId="{78ECE3D0-BE9E-4CCA-A73B-4939E1DED44D}">
      <dgm:prSet/>
      <dgm:spPr/>
      <dgm:t>
        <a:bodyPr/>
        <a:lstStyle/>
        <a:p>
          <a:endParaRPr lang="en-US"/>
        </a:p>
      </dgm:t>
    </dgm:pt>
    <dgm:pt modelId="{29DF3F23-FEA7-4BD8-A035-E5CFE62CA5D5}" type="sibTrans" cxnId="{78ECE3D0-BE9E-4CCA-A73B-4939E1DED44D}">
      <dgm:prSet/>
      <dgm:spPr/>
      <dgm:t>
        <a:bodyPr/>
        <a:lstStyle/>
        <a:p>
          <a:endParaRPr lang="en-US"/>
        </a:p>
      </dgm:t>
    </dgm:pt>
    <dgm:pt modelId="{EF1A9FF5-05BB-40FD-B870-CB36E8B9FBD8}">
      <dgm:prSet/>
      <dgm:spPr/>
      <dgm:t>
        <a:bodyPr/>
        <a:lstStyle/>
        <a:p>
          <a:r>
            <a:rPr lang="en-US"/>
            <a:t>Many applications lack a </a:t>
          </a:r>
          <a:r>
            <a:rPr lang="en-US" b="1"/>
            <a:t>simple, unified, and user-friendly interface</a:t>
          </a:r>
          <a:r>
            <a:rPr lang="en-US"/>
            <a:t> for handling multiple conversion types in one place.</a:t>
          </a:r>
        </a:p>
      </dgm:t>
    </dgm:pt>
    <dgm:pt modelId="{017D56F6-08B7-456E-8F24-D4F9E8B87342}" type="parTrans" cxnId="{84769DCD-514C-4229-9D13-5DB0D5235183}">
      <dgm:prSet/>
      <dgm:spPr/>
      <dgm:t>
        <a:bodyPr/>
        <a:lstStyle/>
        <a:p>
          <a:endParaRPr lang="en-US"/>
        </a:p>
      </dgm:t>
    </dgm:pt>
    <dgm:pt modelId="{E99E1FD5-9006-49CA-B6C1-460C68BD1B5A}" type="sibTrans" cxnId="{84769DCD-514C-4229-9D13-5DB0D5235183}">
      <dgm:prSet/>
      <dgm:spPr/>
      <dgm:t>
        <a:bodyPr/>
        <a:lstStyle/>
        <a:p>
          <a:endParaRPr lang="en-US"/>
        </a:p>
      </dgm:t>
    </dgm:pt>
    <dgm:pt modelId="{8414F3F0-DF68-41DE-98DA-FDA5831B721C}">
      <dgm:prSet/>
      <dgm:spPr/>
      <dgm:t>
        <a:bodyPr/>
        <a:lstStyle/>
        <a:p>
          <a:r>
            <a:rPr lang="en-US"/>
            <a:t>Manual conversion methods are </a:t>
          </a:r>
          <a:r>
            <a:rPr lang="en-US" b="1"/>
            <a:t>time-consuming and prone to calculation errors</a:t>
          </a:r>
          <a:r>
            <a:rPr lang="en-US"/>
            <a:t>.</a:t>
          </a:r>
        </a:p>
      </dgm:t>
    </dgm:pt>
    <dgm:pt modelId="{D0AB4903-2CDE-4912-A377-42AF4A87BB7F}" type="parTrans" cxnId="{3F147E5D-5F16-44D5-B306-29D08E560A43}">
      <dgm:prSet/>
      <dgm:spPr/>
      <dgm:t>
        <a:bodyPr/>
        <a:lstStyle/>
        <a:p>
          <a:endParaRPr lang="en-US"/>
        </a:p>
      </dgm:t>
    </dgm:pt>
    <dgm:pt modelId="{0C5926DE-2582-4F80-9DA3-C75100C959F0}" type="sibTrans" cxnId="{3F147E5D-5F16-44D5-B306-29D08E560A43}">
      <dgm:prSet/>
      <dgm:spPr/>
      <dgm:t>
        <a:bodyPr/>
        <a:lstStyle/>
        <a:p>
          <a:endParaRPr lang="en-US"/>
        </a:p>
      </dgm:t>
    </dgm:pt>
    <dgm:pt modelId="{95025E5E-7A9F-42F2-A610-C11D6C388C61}">
      <dgm:prSet/>
      <dgm:spPr/>
      <dgm:t>
        <a:bodyPr/>
        <a:lstStyle/>
        <a:p>
          <a:r>
            <a:rPr lang="en-US"/>
            <a:t>There is a need for a </a:t>
          </a:r>
          <a:r>
            <a:rPr lang="en-US" b="1"/>
            <a:t>reliable, accurate, and easy-to-use converter</a:t>
          </a:r>
          <a:r>
            <a:rPr lang="en-US"/>
            <a:t> that integrates multiple unit conversion functionalities into a single application.</a:t>
          </a:r>
        </a:p>
      </dgm:t>
    </dgm:pt>
    <dgm:pt modelId="{758CBB47-682B-4904-851B-D83325876702}" type="parTrans" cxnId="{4B8DE424-A9CF-4F79-AE9F-51DF26E7A9BA}">
      <dgm:prSet/>
      <dgm:spPr/>
      <dgm:t>
        <a:bodyPr/>
        <a:lstStyle/>
        <a:p>
          <a:endParaRPr lang="en-US"/>
        </a:p>
      </dgm:t>
    </dgm:pt>
    <dgm:pt modelId="{4FD200F6-9F1F-4E41-A12A-D96AAE5F471D}" type="sibTrans" cxnId="{4B8DE424-A9CF-4F79-AE9F-51DF26E7A9BA}">
      <dgm:prSet/>
      <dgm:spPr/>
      <dgm:t>
        <a:bodyPr/>
        <a:lstStyle/>
        <a:p>
          <a:endParaRPr lang="en-US"/>
        </a:p>
      </dgm:t>
    </dgm:pt>
    <dgm:pt modelId="{E38E3286-E222-40D3-9321-4888A5A6BBDD}" type="pres">
      <dgm:prSet presAssocID="{AE8F8260-27B6-4044-ABF8-AD7970F1FD65}" presName="Name0" presStyleCnt="0">
        <dgm:presLayoutVars>
          <dgm:dir/>
          <dgm:resizeHandles val="exact"/>
        </dgm:presLayoutVars>
      </dgm:prSet>
      <dgm:spPr/>
    </dgm:pt>
    <dgm:pt modelId="{13B34563-060C-4617-9F16-1E9FE31CDBDC}" type="pres">
      <dgm:prSet presAssocID="{261F8530-BFB8-4941-94F9-672358882B35}" presName="node" presStyleLbl="node1" presStyleIdx="0" presStyleCnt="5">
        <dgm:presLayoutVars>
          <dgm:bulletEnabled val="1"/>
        </dgm:presLayoutVars>
      </dgm:prSet>
      <dgm:spPr/>
    </dgm:pt>
    <dgm:pt modelId="{033E5D5C-4C70-4531-A3EB-76349C6DAA98}" type="pres">
      <dgm:prSet presAssocID="{E944075C-DC8B-4371-8220-3EC19D5A33BC}" presName="sibTrans" presStyleLbl="sibTrans1D1" presStyleIdx="0" presStyleCnt="4"/>
      <dgm:spPr/>
    </dgm:pt>
    <dgm:pt modelId="{172D7E7B-8726-447D-9522-C8117478A4B9}" type="pres">
      <dgm:prSet presAssocID="{E944075C-DC8B-4371-8220-3EC19D5A33BC}" presName="connectorText" presStyleLbl="sibTrans1D1" presStyleIdx="0" presStyleCnt="4"/>
      <dgm:spPr/>
    </dgm:pt>
    <dgm:pt modelId="{72533922-3660-495D-B412-EB1EAE241B3B}" type="pres">
      <dgm:prSet presAssocID="{4C619709-1B8D-493B-B8C4-699B17B6E949}" presName="node" presStyleLbl="node1" presStyleIdx="1" presStyleCnt="5">
        <dgm:presLayoutVars>
          <dgm:bulletEnabled val="1"/>
        </dgm:presLayoutVars>
      </dgm:prSet>
      <dgm:spPr/>
    </dgm:pt>
    <dgm:pt modelId="{668CC0EC-2AEA-4867-96B2-00B08CE3C0E3}" type="pres">
      <dgm:prSet presAssocID="{29DF3F23-FEA7-4BD8-A035-E5CFE62CA5D5}" presName="sibTrans" presStyleLbl="sibTrans1D1" presStyleIdx="1" presStyleCnt="4"/>
      <dgm:spPr/>
    </dgm:pt>
    <dgm:pt modelId="{8A743FE9-81B1-4162-B118-412C67C73F4F}" type="pres">
      <dgm:prSet presAssocID="{29DF3F23-FEA7-4BD8-A035-E5CFE62CA5D5}" presName="connectorText" presStyleLbl="sibTrans1D1" presStyleIdx="1" presStyleCnt="4"/>
      <dgm:spPr/>
    </dgm:pt>
    <dgm:pt modelId="{692EED25-2299-432D-BEA6-CA575C034D40}" type="pres">
      <dgm:prSet presAssocID="{EF1A9FF5-05BB-40FD-B870-CB36E8B9FBD8}" presName="node" presStyleLbl="node1" presStyleIdx="2" presStyleCnt="5">
        <dgm:presLayoutVars>
          <dgm:bulletEnabled val="1"/>
        </dgm:presLayoutVars>
      </dgm:prSet>
      <dgm:spPr/>
    </dgm:pt>
    <dgm:pt modelId="{BB9EC3E6-59F7-4BE1-9E95-5C4076481E89}" type="pres">
      <dgm:prSet presAssocID="{E99E1FD5-9006-49CA-B6C1-460C68BD1B5A}" presName="sibTrans" presStyleLbl="sibTrans1D1" presStyleIdx="2" presStyleCnt="4"/>
      <dgm:spPr/>
    </dgm:pt>
    <dgm:pt modelId="{0E989517-CAF5-4FE1-AC2F-9D7957CDEFB1}" type="pres">
      <dgm:prSet presAssocID="{E99E1FD5-9006-49CA-B6C1-460C68BD1B5A}" presName="connectorText" presStyleLbl="sibTrans1D1" presStyleIdx="2" presStyleCnt="4"/>
      <dgm:spPr/>
    </dgm:pt>
    <dgm:pt modelId="{9D584121-D577-426F-A997-A3CB54ED8D62}" type="pres">
      <dgm:prSet presAssocID="{8414F3F0-DF68-41DE-98DA-FDA5831B721C}" presName="node" presStyleLbl="node1" presStyleIdx="3" presStyleCnt="5">
        <dgm:presLayoutVars>
          <dgm:bulletEnabled val="1"/>
        </dgm:presLayoutVars>
      </dgm:prSet>
      <dgm:spPr/>
    </dgm:pt>
    <dgm:pt modelId="{87342BA9-6395-4DC5-8671-69685FA310C4}" type="pres">
      <dgm:prSet presAssocID="{0C5926DE-2582-4F80-9DA3-C75100C959F0}" presName="sibTrans" presStyleLbl="sibTrans1D1" presStyleIdx="3" presStyleCnt="4"/>
      <dgm:spPr/>
    </dgm:pt>
    <dgm:pt modelId="{4535461D-6679-4708-8FAF-D885A6E9D95A}" type="pres">
      <dgm:prSet presAssocID="{0C5926DE-2582-4F80-9DA3-C75100C959F0}" presName="connectorText" presStyleLbl="sibTrans1D1" presStyleIdx="3" presStyleCnt="4"/>
      <dgm:spPr/>
    </dgm:pt>
    <dgm:pt modelId="{6EF0F129-3182-4545-9F1F-39AD2C4215CE}" type="pres">
      <dgm:prSet presAssocID="{95025E5E-7A9F-42F2-A610-C11D6C388C61}" presName="node" presStyleLbl="node1" presStyleIdx="4" presStyleCnt="5">
        <dgm:presLayoutVars>
          <dgm:bulletEnabled val="1"/>
        </dgm:presLayoutVars>
      </dgm:prSet>
      <dgm:spPr/>
    </dgm:pt>
  </dgm:ptLst>
  <dgm:cxnLst>
    <dgm:cxn modelId="{8CA82D09-1501-4AE6-9A7A-77440CB24081}" type="presOf" srcId="{E99E1FD5-9006-49CA-B6C1-460C68BD1B5A}" destId="{BB9EC3E6-59F7-4BE1-9E95-5C4076481E89}" srcOrd="0" destOrd="0" presId="urn:microsoft.com/office/officeart/2016/7/layout/RepeatingBendingProcessNew"/>
    <dgm:cxn modelId="{ADE8950D-C4AE-45F7-A7CA-04C622A5C7F4}" srcId="{AE8F8260-27B6-4044-ABF8-AD7970F1FD65}" destId="{261F8530-BFB8-4941-94F9-672358882B35}" srcOrd="0" destOrd="0" parTransId="{A9F2989A-0DDC-4D18-AD8F-0824221022D4}" sibTransId="{E944075C-DC8B-4371-8220-3EC19D5A33BC}"/>
    <dgm:cxn modelId="{DF30EE1E-49E4-4A6D-A91A-90A9E02F6D9B}" type="presOf" srcId="{0C5926DE-2582-4F80-9DA3-C75100C959F0}" destId="{87342BA9-6395-4DC5-8671-69685FA310C4}" srcOrd="0" destOrd="0" presId="urn:microsoft.com/office/officeart/2016/7/layout/RepeatingBendingProcessNew"/>
    <dgm:cxn modelId="{4B8DE424-A9CF-4F79-AE9F-51DF26E7A9BA}" srcId="{AE8F8260-27B6-4044-ABF8-AD7970F1FD65}" destId="{95025E5E-7A9F-42F2-A610-C11D6C388C61}" srcOrd="4" destOrd="0" parTransId="{758CBB47-682B-4904-851B-D83325876702}" sibTransId="{4FD200F6-9F1F-4E41-A12A-D96AAE5F471D}"/>
    <dgm:cxn modelId="{3F147E5D-5F16-44D5-B306-29D08E560A43}" srcId="{AE8F8260-27B6-4044-ABF8-AD7970F1FD65}" destId="{8414F3F0-DF68-41DE-98DA-FDA5831B721C}" srcOrd="3" destOrd="0" parTransId="{D0AB4903-2CDE-4912-A377-42AF4A87BB7F}" sibTransId="{0C5926DE-2582-4F80-9DA3-C75100C959F0}"/>
    <dgm:cxn modelId="{2C93A651-0867-4F1B-82F7-87E21A68B41F}" type="presOf" srcId="{29DF3F23-FEA7-4BD8-A035-E5CFE62CA5D5}" destId="{8A743FE9-81B1-4162-B118-412C67C73F4F}" srcOrd="1" destOrd="0" presId="urn:microsoft.com/office/officeart/2016/7/layout/RepeatingBendingProcessNew"/>
    <dgm:cxn modelId="{E3C6B774-5110-44CA-8381-76AA8167FAAD}" type="presOf" srcId="{AE8F8260-27B6-4044-ABF8-AD7970F1FD65}" destId="{E38E3286-E222-40D3-9321-4888A5A6BBDD}" srcOrd="0" destOrd="0" presId="urn:microsoft.com/office/officeart/2016/7/layout/RepeatingBendingProcessNew"/>
    <dgm:cxn modelId="{2B8B1759-5E3A-4DA9-8BA5-B5E60B6A6B51}" type="presOf" srcId="{8414F3F0-DF68-41DE-98DA-FDA5831B721C}" destId="{9D584121-D577-426F-A997-A3CB54ED8D62}" srcOrd="0" destOrd="0" presId="urn:microsoft.com/office/officeart/2016/7/layout/RepeatingBendingProcessNew"/>
    <dgm:cxn modelId="{1DEC1E93-EFD5-44CB-9AC5-297A27B17C4E}" type="presOf" srcId="{0C5926DE-2582-4F80-9DA3-C75100C959F0}" destId="{4535461D-6679-4708-8FAF-D885A6E9D95A}" srcOrd="1" destOrd="0" presId="urn:microsoft.com/office/officeart/2016/7/layout/RepeatingBendingProcessNew"/>
    <dgm:cxn modelId="{9042A0AA-D354-47F0-A936-8BE49DD76A52}" type="presOf" srcId="{95025E5E-7A9F-42F2-A610-C11D6C388C61}" destId="{6EF0F129-3182-4545-9F1F-39AD2C4215CE}" srcOrd="0" destOrd="0" presId="urn:microsoft.com/office/officeart/2016/7/layout/RepeatingBendingProcessNew"/>
    <dgm:cxn modelId="{2D0E3FAB-6373-4A50-BA5B-F7C37BCB4913}" type="presOf" srcId="{4C619709-1B8D-493B-B8C4-699B17B6E949}" destId="{72533922-3660-495D-B412-EB1EAE241B3B}" srcOrd="0" destOrd="0" presId="urn:microsoft.com/office/officeart/2016/7/layout/RepeatingBendingProcessNew"/>
    <dgm:cxn modelId="{5E8A0FAF-22B7-438F-B8BD-1EF61E77C801}" type="presOf" srcId="{E99E1FD5-9006-49CA-B6C1-460C68BD1B5A}" destId="{0E989517-CAF5-4FE1-AC2F-9D7957CDEFB1}" srcOrd="1" destOrd="0" presId="urn:microsoft.com/office/officeart/2016/7/layout/RepeatingBendingProcessNew"/>
    <dgm:cxn modelId="{E9E673C6-8AB2-4145-9BAF-E2DF479D4A7C}" type="presOf" srcId="{29DF3F23-FEA7-4BD8-A035-E5CFE62CA5D5}" destId="{668CC0EC-2AEA-4867-96B2-00B08CE3C0E3}" srcOrd="0" destOrd="0" presId="urn:microsoft.com/office/officeart/2016/7/layout/RepeatingBendingProcessNew"/>
    <dgm:cxn modelId="{0B8CB1C6-A69A-4A57-A362-56D140593752}" type="presOf" srcId="{E944075C-DC8B-4371-8220-3EC19D5A33BC}" destId="{033E5D5C-4C70-4531-A3EB-76349C6DAA98}" srcOrd="0" destOrd="0" presId="urn:microsoft.com/office/officeart/2016/7/layout/RepeatingBendingProcessNew"/>
    <dgm:cxn modelId="{84769DCD-514C-4229-9D13-5DB0D5235183}" srcId="{AE8F8260-27B6-4044-ABF8-AD7970F1FD65}" destId="{EF1A9FF5-05BB-40FD-B870-CB36E8B9FBD8}" srcOrd="2" destOrd="0" parTransId="{017D56F6-08B7-456E-8F24-D4F9E8B87342}" sibTransId="{E99E1FD5-9006-49CA-B6C1-460C68BD1B5A}"/>
    <dgm:cxn modelId="{78ECE3D0-BE9E-4CCA-A73B-4939E1DED44D}" srcId="{AE8F8260-27B6-4044-ABF8-AD7970F1FD65}" destId="{4C619709-1B8D-493B-B8C4-699B17B6E949}" srcOrd="1" destOrd="0" parTransId="{EEF4199F-1A0B-4E91-84C9-3A8585C0ED15}" sibTransId="{29DF3F23-FEA7-4BD8-A035-E5CFE62CA5D5}"/>
    <dgm:cxn modelId="{52D757E0-5D79-4579-9145-9E4E3ACE1953}" type="presOf" srcId="{EF1A9FF5-05BB-40FD-B870-CB36E8B9FBD8}" destId="{692EED25-2299-432D-BEA6-CA575C034D40}" srcOrd="0" destOrd="0" presId="urn:microsoft.com/office/officeart/2016/7/layout/RepeatingBendingProcessNew"/>
    <dgm:cxn modelId="{E27022EA-69AC-430F-A09A-67D012453DE7}" type="presOf" srcId="{E944075C-DC8B-4371-8220-3EC19D5A33BC}" destId="{172D7E7B-8726-447D-9522-C8117478A4B9}" srcOrd="1" destOrd="0" presId="urn:microsoft.com/office/officeart/2016/7/layout/RepeatingBendingProcessNew"/>
    <dgm:cxn modelId="{871FEDFA-1A43-42AC-BF99-38FA8909201C}" type="presOf" srcId="{261F8530-BFB8-4941-94F9-672358882B35}" destId="{13B34563-060C-4617-9F16-1E9FE31CDBDC}" srcOrd="0" destOrd="0" presId="urn:microsoft.com/office/officeart/2016/7/layout/RepeatingBendingProcessNew"/>
    <dgm:cxn modelId="{2D74418D-943E-4DBF-8AC0-F671A186A304}" type="presParOf" srcId="{E38E3286-E222-40D3-9321-4888A5A6BBDD}" destId="{13B34563-060C-4617-9F16-1E9FE31CDBDC}" srcOrd="0" destOrd="0" presId="urn:microsoft.com/office/officeart/2016/7/layout/RepeatingBendingProcessNew"/>
    <dgm:cxn modelId="{87BB61DE-5743-4F75-B79F-E5721CD6A4E1}" type="presParOf" srcId="{E38E3286-E222-40D3-9321-4888A5A6BBDD}" destId="{033E5D5C-4C70-4531-A3EB-76349C6DAA98}" srcOrd="1" destOrd="0" presId="urn:microsoft.com/office/officeart/2016/7/layout/RepeatingBendingProcessNew"/>
    <dgm:cxn modelId="{87A783E9-2B7F-412A-9C77-F4633731649C}" type="presParOf" srcId="{033E5D5C-4C70-4531-A3EB-76349C6DAA98}" destId="{172D7E7B-8726-447D-9522-C8117478A4B9}" srcOrd="0" destOrd="0" presId="urn:microsoft.com/office/officeart/2016/7/layout/RepeatingBendingProcessNew"/>
    <dgm:cxn modelId="{8BD6AD81-5575-467F-AF5E-2B959FC78A1F}" type="presParOf" srcId="{E38E3286-E222-40D3-9321-4888A5A6BBDD}" destId="{72533922-3660-495D-B412-EB1EAE241B3B}" srcOrd="2" destOrd="0" presId="urn:microsoft.com/office/officeart/2016/7/layout/RepeatingBendingProcessNew"/>
    <dgm:cxn modelId="{46C7F943-C304-45F6-8E3D-3563E73FFFB1}" type="presParOf" srcId="{E38E3286-E222-40D3-9321-4888A5A6BBDD}" destId="{668CC0EC-2AEA-4867-96B2-00B08CE3C0E3}" srcOrd="3" destOrd="0" presId="urn:microsoft.com/office/officeart/2016/7/layout/RepeatingBendingProcessNew"/>
    <dgm:cxn modelId="{CD468020-3B1E-478C-82EF-52880E12BB70}" type="presParOf" srcId="{668CC0EC-2AEA-4867-96B2-00B08CE3C0E3}" destId="{8A743FE9-81B1-4162-B118-412C67C73F4F}" srcOrd="0" destOrd="0" presId="urn:microsoft.com/office/officeart/2016/7/layout/RepeatingBendingProcessNew"/>
    <dgm:cxn modelId="{056590BD-3AC3-4359-98AF-2F2EC0C5AF72}" type="presParOf" srcId="{E38E3286-E222-40D3-9321-4888A5A6BBDD}" destId="{692EED25-2299-432D-BEA6-CA575C034D40}" srcOrd="4" destOrd="0" presId="urn:microsoft.com/office/officeart/2016/7/layout/RepeatingBendingProcessNew"/>
    <dgm:cxn modelId="{01900118-D68B-4E5C-893C-E63D0B02FA05}" type="presParOf" srcId="{E38E3286-E222-40D3-9321-4888A5A6BBDD}" destId="{BB9EC3E6-59F7-4BE1-9E95-5C4076481E89}" srcOrd="5" destOrd="0" presId="urn:microsoft.com/office/officeart/2016/7/layout/RepeatingBendingProcessNew"/>
    <dgm:cxn modelId="{34E248D2-E710-4291-AABD-1C959A9CE2D0}" type="presParOf" srcId="{BB9EC3E6-59F7-4BE1-9E95-5C4076481E89}" destId="{0E989517-CAF5-4FE1-AC2F-9D7957CDEFB1}" srcOrd="0" destOrd="0" presId="urn:microsoft.com/office/officeart/2016/7/layout/RepeatingBendingProcessNew"/>
    <dgm:cxn modelId="{A9F8EE8C-AB34-4346-8717-16691B8C877C}" type="presParOf" srcId="{E38E3286-E222-40D3-9321-4888A5A6BBDD}" destId="{9D584121-D577-426F-A997-A3CB54ED8D62}" srcOrd="6" destOrd="0" presId="urn:microsoft.com/office/officeart/2016/7/layout/RepeatingBendingProcessNew"/>
    <dgm:cxn modelId="{3828A00B-29B3-42DD-AFCC-EE901C0D6BB3}" type="presParOf" srcId="{E38E3286-E222-40D3-9321-4888A5A6BBDD}" destId="{87342BA9-6395-4DC5-8671-69685FA310C4}" srcOrd="7" destOrd="0" presId="urn:microsoft.com/office/officeart/2016/7/layout/RepeatingBendingProcessNew"/>
    <dgm:cxn modelId="{A648ED24-FC6B-4203-AC0D-F1A675CEC1F1}" type="presParOf" srcId="{87342BA9-6395-4DC5-8671-69685FA310C4}" destId="{4535461D-6679-4708-8FAF-D885A6E9D95A}" srcOrd="0" destOrd="0" presId="urn:microsoft.com/office/officeart/2016/7/layout/RepeatingBendingProcessNew"/>
    <dgm:cxn modelId="{EDA4A85F-AE94-4BA0-BD5E-3B5DE3F08EC8}" type="presParOf" srcId="{E38E3286-E222-40D3-9321-4888A5A6BBDD}" destId="{6EF0F129-3182-4545-9F1F-39AD2C4215CE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3CFB90-9A8D-40CC-921A-3B6BFF5004C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052EDF7-C8E0-4B67-8392-3B59CCFD3435}">
      <dgm:prSet/>
      <dgm:spPr/>
      <dgm:t>
        <a:bodyPr/>
        <a:lstStyle/>
        <a:p>
          <a:r>
            <a:rPr lang="en-US"/>
            <a:t>Gained practical experience in </a:t>
          </a:r>
          <a:r>
            <a:rPr lang="en-US" b="1"/>
            <a:t>designing and developing a user-friendly desktop application</a:t>
          </a:r>
          <a:r>
            <a:rPr lang="en-US"/>
            <a:t>.</a:t>
          </a:r>
        </a:p>
      </dgm:t>
    </dgm:pt>
    <dgm:pt modelId="{2F738B61-8ADB-4EC0-A068-BA62B1EEC86A}" type="parTrans" cxnId="{E4236890-9ED0-4AD3-B23F-ED2FC24A20BE}">
      <dgm:prSet/>
      <dgm:spPr/>
      <dgm:t>
        <a:bodyPr/>
        <a:lstStyle/>
        <a:p>
          <a:endParaRPr lang="en-US"/>
        </a:p>
      </dgm:t>
    </dgm:pt>
    <dgm:pt modelId="{59DA3A33-BC66-4B47-9539-7924A964C577}" type="sibTrans" cxnId="{E4236890-9ED0-4AD3-B23F-ED2FC24A20BE}">
      <dgm:prSet/>
      <dgm:spPr/>
      <dgm:t>
        <a:bodyPr/>
        <a:lstStyle/>
        <a:p>
          <a:endParaRPr lang="en-US"/>
        </a:p>
      </dgm:t>
    </dgm:pt>
    <dgm:pt modelId="{9C597C35-AD21-4502-9BE9-55EC0CDA9A7B}">
      <dgm:prSet/>
      <dgm:spPr/>
      <dgm:t>
        <a:bodyPr/>
        <a:lstStyle/>
        <a:p>
          <a:r>
            <a:rPr lang="en-US"/>
            <a:t>Learned to implement </a:t>
          </a:r>
          <a:r>
            <a:rPr lang="en-US" b="1"/>
            <a:t>unit conversion logic and mathematical calculations</a:t>
          </a:r>
          <a:r>
            <a:rPr lang="en-US"/>
            <a:t> accurately.</a:t>
          </a:r>
        </a:p>
      </dgm:t>
    </dgm:pt>
    <dgm:pt modelId="{C28D14EC-14B5-48FC-A9F9-8E9268728008}" type="parTrans" cxnId="{D85260AC-3021-497A-BFFD-D3F0E20BE114}">
      <dgm:prSet/>
      <dgm:spPr/>
      <dgm:t>
        <a:bodyPr/>
        <a:lstStyle/>
        <a:p>
          <a:endParaRPr lang="en-US"/>
        </a:p>
      </dgm:t>
    </dgm:pt>
    <dgm:pt modelId="{09AEF76B-0ABC-4547-86AC-29D28CD95DAB}" type="sibTrans" cxnId="{D85260AC-3021-497A-BFFD-D3F0E20BE114}">
      <dgm:prSet/>
      <dgm:spPr/>
      <dgm:t>
        <a:bodyPr/>
        <a:lstStyle/>
        <a:p>
          <a:endParaRPr lang="en-US"/>
        </a:p>
      </dgm:t>
    </dgm:pt>
    <dgm:pt modelId="{3219160D-2965-4BB8-9621-FAC54431D317}">
      <dgm:prSet/>
      <dgm:spPr/>
      <dgm:t>
        <a:bodyPr/>
        <a:lstStyle/>
        <a:p>
          <a:r>
            <a:rPr lang="en-US"/>
            <a:t>Improved skills in </a:t>
          </a:r>
          <a:r>
            <a:rPr lang="en-US" b="1"/>
            <a:t>User Interface (UI) design and usability principles</a:t>
          </a:r>
          <a:r>
            <a:rPr lang="en-US"/>
            <a:t>.</a:t>
          </a:r>
        </a:p>
      </dgm:t>
    </dgm:pt>
    <dgm:pt modelId="{669FA3FF-6AE3-4CBD-BCAC-C90964E264D8}" type="parTrans" cxnId="{EDE0C4DF-9E3B-4355-ACDD-07D4C63FCA33}">
      <dgm:prSet/>
      <dgm:spPr/>
      <dgm:t>
        <a:bodyPr/>
        <a:lstStyle/>
        <a:p>
          <a:endParaRPr lang="en-US"/>
        </a:p>
      </dgm:t>
    </dgm:pt>
    <dgm:pt modelId="{994130AF-ECC4-4D15-BB8F-CC25466A8827}" type="sibTrans" cxnId="{EDE0C4DF-9E3B-4355-ACDD-07D4C63FCA33}">
      <dgm:prSet/>
      <dgm:spPr/>
      <dgm:t>
        <a:bodyPr/>
        <a:lstStyle/>
        <a:p>
          <a:endParaRPr lang="en-US"/>
        </a:p>
      </dgm:t>
    </dgm:pt>
    <dgm:pt modelId="{78F8F071-7B8F-491F-B6AE-CB7CED598B40}">
      <dgm:prSet/>
      <dgm:spPr/>
      <dgm:t>
        <a:bodyPr/>
        <a:lstStyle/>
        <a:p>
          <a:r>
            <a:rPr lang="en-US"/>
            <a:t>Understood the importance of </a:t>
          </a:r>
          <a:r>
            <a:rPr lang="en-US" b="1"/>
            <a:t>structured programming and modular application design</a:t>
          </a:r>
          <a:r>
            <a:rPr lang="en-US"/>
            <a:t>.</a:t>
          </a:r>
        </a:p>
      </dgm:t>
    </dgm:pt>
    <dgm:pt modelId="{32E416D4-983E-42F8-A694-08C0A8BED76F}" type="parTrans" cxnId="{CBDCA11D-21DA-40E0-A911-5B045F951966}">
      <dgm:prSet/>
      <dgm:spPr/>
      <dgm:t>
        <a:bodyPr/>
        <a:lstStyle/>
        <a:p>
          <a:endParaRPr lang="en-US"/>
        </a:p>
      </dgm:t>
    </dgm:pt>
    <dgm:pt modelId="{11B4E935-7C3C-4DD1-85F4-1B875C33D6D8}" type="sibTrans" cxnId="{CBDCA11D-21DA-40E0-A911-5B045F951966}">
      <dgm:prSet/>
      <dgm:spPr/>
      <dgm:t>
        <a:bodyPr/>
        <a:lstStyle/>
        <a:p>
          <a:endParaRPr lang="en-US"/>
        </a:p>
      </dgm:t>
    </dgm:pt>
    <dgm:pt modelId="{2600A560-8FD9-445E-9010-90D50DA6875A}">
      <dgm:prSet/>
      <dgm:spPr/>
      <dgm:t>
        <a:bodyPr/>
        <a:lstStyle/>
        <a:p>
          <a:r>
            <a:rPr lang="en-US"/>
            <a:t>Developed knowledge of </a:t>
          </a:r>
          <a:r>
            <a:rPr lang="en-US" b="1"/>
            <a:t>handling user input, processing data, and displaying results efficiently</a:t>
          </a:r>
          <a:r>
            <a:rPr lang="en-US"/>
            <a:t>.</a:t>
          </a:r>
        </a:p>
      </dgm:t>
    </dgm:pt>
    <dgm:pt modelId="{8ADA9859-DD3C-4C6C-8EA0-8CF95631F270}" type="parTrans" cxnId="{F82E55D9-22DC-471A-B9A4-1FB31961CA07}">
      <dgm:prSet/>
      <dgm:spPr/>
      <dgm:t>
        <a:bodyPr/>
        <a:lstStyle/>
        <a:p>
          <a:endParaRPr lang="en-US"/>
        </a:p>
      </dgm:t>
    </dgm:pt>
    <dgm:pt modelId="{978937C1-237D-434E-8F67-3354C58DC4B5}" type="sibTrans" cxnId="{F82E55D9-22DC-471A-B9A4-1FB31961CA07}">
      <dgm:prSet/>
      <dgm:spPr/>
      <dgm:t>
        <a:bodyPr/>
        <a:lstStyle/>
        <a:p>
          <a:endParaRPr lang="en-US"/>
        </a:p>
      </dgm:t>
    </dgm:pt>
    <dgm:pt modelId="{BA355F07-65D6-4CD6-83DA-C55E0ECDBBD8}">
      <dgm:prSet/>
      <dgm:spPr/>
      <dgm:t>
        <a:bodyPr/>
        <a:lstStyle/>
        <a:p>
          <a:r>
            <a:rPr lang="en-US"/>
            <a:t>Enhanced problem-solving abilities and gained experience in </a:t>
          </a:r>
          <a:r>
            <a:rPr lang="en-US" b="1"/>
            <a:t>building real-world software solutions</a:t>
          </a:r>
          <a:r>
            <a:rPr lang="en-US"/>
            <a:t>.</a:t>
          </a:r>
        </a:p>
      </dgm:t>
    </dgm:pt>
    <dgm:pt modelId="{3E570290-C4B2-4643-8118-7C6BD795256F}" type="parTrans" cxnId="{81E86E34-73F7-4D7C-99CB-DA8CCBEA378B}">
      <dgm:prSet/>
      <dgm:spPr/>
      <dgm:t>
        <a:bodyPr/>
        <a:lstStyle/>
        <a:p>
          <a:endParaRPr lang="en-US"/>
        </a:p>
      </dgm:t>
    </dgm:pt>
    <dgm:pt modelId="{C16E2BA6-A3DA-44FD-96DA-235C5A08B0EA}" type="sibTrans" cxnId="{81E86E34-73F7-4D7C-99CB-DA8CCBEA378B}">
      <dgm:prSet/>
      <dgm:spPr/>
      <dgm:t>
        <a:bodyPr/>
        <a:lstStyle/>
        <a:p>
          <a:endParaRPr lang="en-US"/>
        </a:p>
      </dgm:t>
    </dgm:pt>
    <dgm:pt modelId="{585F1E56-3892-4C5C-9392-25D4E7BF010B}" type="pres">
      <dgm:prSet presAssocID="{6F3CFB90-9A8D-40CC-921A-3B6BFF5004C9}" presName="linear" presStyleCnt="0">
        <dgm:presLayoutVars>
          <dgm:animLvl val="lvl"/>
          <dgm:resizeHandles val="exact"/>
        </dgm:presLayoutVars>
      </dgm:prSet>
      <dgm:spPr/>
    </dgm:pt>
    <dgm:pt modelId="{E690B408-0ED2-412A-B08C-9C5CF096340B}" type="pres">
      <dgm:prSet presAssocID="{E052EDF7-C8E0-4B67-8392-3B59CCFD343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74B0D19-BF8F-4044-B988-F016FE8E18FC}" type="pres">
      <dgm:prSet presAssocID="{59DA3A33-BC66-4B47-9539-7924A964C577}" presName="spacer" presStyleCnt="0"/>
      <dgm:spPr/>
    </dgm:pt>
    <dgm:pt modelId="{082FF890-134A-4159-A384-2B6504CFB122}" type="pres">
      <dgm:prSet presAssocID="{9C597C35-AD21-4502-9BE9-55EC0CDA9A7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4AEA754-3A49-446C-8A05-207720609C6F}" type="pres">
      <dgm:prSet presAssocID="{09AEF76B-0ABC-4547-86AC-29D28CD95DAB}" presName="spacer" presStyleCnt="0"/>
      <dgm:spPr/>
    </dgm:pt>
    <dgm:pt modelId="{961A5DA9-1F46-4EB8-8988-44E9E2EE0574}" type="pres">
      <dgm:prSet presAssocID="{3219160D-2965-4BB8-9621-FAC54431D31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53042D6-9B2D-4C56-BFC7-2F2BA514E329}" type="pres">
      <dgm:prSet presAssocID="{994130AF-ECC4-4D15-BB8F-CC25466A8827}" presName="spacer" presStyleCnt="0"/>
      <dgm:spPr/>
    </dgm:pt>
    <dgm:pt modelId="{5B56B112-4A23-4EDC-BE81-25A5A29E8445}" type="pres">
      <dgm:prSet presAssocID="{78F8F071-7B8F-491F-B6AE-CB7CED598B4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F285D7F-E337-465C-A15E-22B8A35015AC}" type="pres">
      <dgm:prSet presAssocID="{11B4E935-7C3C-4DD1-85F4-1B875C33D6D8}" presName="spacer" presStyleCnt="0"/>
      <dgm:spPr/>
    </dgm:pt>
    <dgm:pt modelId="{0E74ED47-CEE0-4E12-B4B5-2F523BE1A329}" type="pres">
      <dgm:prSet presAssocID="{2600A560-8FD9-445E-9010-90D50DA6875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B135759-ABD2-4F5C-B438-3E52DFE914F7}" type="pres">
      <dgm:prSet presAssocID="{978937C1-237D-434E-8F67-3354C58DC4B5}" presName="spacer" presStyleCnt="0"/>
      <dgm:spPr/>
    </dgm:pt>
    <dgm:pt modelId="{5078320E-81C5-418A-A817-F704921D2CAF}" type="pres">
      <dgm:prSet presAssocID="{BA355F07-65D6-4CD6-83DA-C55E0ECDBBD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7FA4100-0916-4717-95F0-C78F92813E6C}" type="presOf" srcId="{BA355F07-65D6-4CD6-83DA-C55E0ECDBBD8}" destId="{5078320E-81C5-418A-A817-F704921D2CAF}" srcOrd="0" destOrd="0" presId="urn:microsoft.com/office/officeart/2005/8/layout/vList2"/>
    <dgm:cxn modelId="{CBDCA11D-21DA-40E0-A911-5B045F951966}" srcId="{6F3CFB90-9A8D-40CC-921A-3B6BFF5004C9}" destId="{78F8F071-7B8F-491F-B6AE-CB7CED598B40}" srcOrd="3" destOrd="0" parTransId="{32E416D4-983E-42F8-A694-08C0A8BED76F}" sibTransId="{11B4E935-7C3C-4DD1-85F4-1B875C33D6D8}"/>
    <dgm:cxn modelId="{81E86E34-73F7-4D7C-99CB-DA8CCBEA378B}" srcId="{6F3CFB90-9A8D-40CC-921A-3B6BFF5004C9}" destId="{BA355F07-65D6-4CD6-83DA-C55E0ECDBBD8}" srcOrd="5" destOrd="0" parTransId="{3E570290-C4B2-4643-8118-7C6BD795256F}" sibTransId="{C16E2BA6-A3DA-44FD-96DA-235C5A08B0EA}"/>
    <dgm:cxn modelId="{9B014961-490A-4B2A-9A39-7AB1373B1FAA}" type="presOf" srcId="{3219160D-2965-4BB8-9621-FAC54431D317}" destId="{961A5DA9-1F46-4EB8-8988-44E9E2EE0574}" srcOrd="0" destOrd="0" presId="urn:microsoft.com/office/officeart/2005/8/layout/vList2"/>
    <dgm:cxn modelId="{6E841670-6425-487E-ABAA-51FA251A7C17}" type="presOf" srcId="{78F8F071-7B8F-491F-B6AE-CB7CED598B40}" destId="{5B56B112-4A23-4EDC-BE81-25A5A29E8445}" srcOrd="0" destOrd="0" presId="urn:microsoft.com/office/officeart/2005/8/layout/vList2"/>
    <dgm:cxn modelId="{76A05F8E-47C4-4CA7-9376-5A52CA7E422F}" type="presOf" srcId="{2600A560-8FD9-445E-9010-90D50DA6875A}" destId="{0E74ED47-CEE0-4E12-B4B5-2F523BE1A329}" srcOrd="0" destOrd="0" presId="urn:microsoft.com/office/officeart/2005/8/layout/vList2"/>
    <dgm:cxn modelId="{E4236890-9ED0-4AD3-B23F-ED2FC24A20BE}" srcId="{6F3CFB90-9A8D-40CC-921A-3B6BFF5004C9}" destId="{E052EDF7-C8E0-4B67-8392-3B59CCFD3435}" srcOrd="0" destOrd="0" parTransId="{2F738B61-8ADB-4EC0-A068-BA62B1EEC86A}" sibTransId="{59DA3A33-BC66-4B47-9539-7924A964C577}"/>
    <dgm:cxn modelId="{D85260AC-3021-497A-BFFD-D3F0E20BE114}" srcId="{6F3CFB90-9A8D-40CC-921A-3B6BFF5004C9}" destId="{9C597C35-AD21-4502-9BE9-55EC0CDA9A7B}" srcOrd="1" destOrd="0" parTransId="{C28D14EC-14B5-48FC-A9F9-8E9268728008}" sibTransId="{09AEF76B-0ABC-4547-86AC-29D28CD95DAB}"/>
    <dgm:cxn modelId="{358162BF-5869-4E8D-AD94-7C6915ECD0C4}" type="presOf" srcId="{9C597C35-AD21-4502-9BE9-55EC0CDA9A7B}" destId="{082FF890-134A-4159-A384-2B6504CFB122}" srcOrd="0" destOrd="0" presId="urn:microsoft.com/office/officeart/2005/8/layout/vList2"/>
    <dgm:cxn modelId="{F82E55D9-22DC-471A-B9A4-1FB31961CA07}" srcId="{6F3CFB90-9A8D-40CC-921A-3B6BFF5004C9}" destId="{2600A560-8FD9-445E-9010-90D50DA6875A}" srcOrd="4" destOrd="0" parTransId="{8ADA9859-DD3C-4C6C-8EA0-8CF95631F270}" sibTransId="{978937C1-237D-434E-8F67-3354C58DC4B5}"/>
    <dgm:cxn modelId="{EDE0C4DF-9E3B-4355-ACDD-07D4C63FCA33}" srcId="{6F3CFB90-9A8D-40CC-921A-3B6BFF5004C9}" destId="{3219160D-2965-4BB8-9621-FAC54431D317}" srcOrd="2" destOrd="0" parTransId="{669FA3FF-6AE3-4CBD-BCAC-C90964E264D8}" sibTransId="{994130AF-ECC4-4D15-BB8F-CC25466A8827}"/>
    <dgm:cxn modelId="{D32CA1E3-298C-44B5-A4DC-12DC61D15ED0}" type="presOf" srcId="{6F3CFB90-9A8D-40CC-921A-3B6BFF5004C9}" destId="{585F1E56-3892-4C5C-9392-25D4E7BF010B}" srcOrd="0" destOrd="0" presId="urn:microsoft.com/office/officeart/2005/8/layout/vList2"/>
    <dgm:cxn modelId="{9D19F4FB-1BDB-44B0-BCDC-8883486177F5}" type="presOf" srcId="{E052EDF7-C8E0-4B67-8392-3B59CCFD3435}" destId="{E690B408-0ED2-412A-B08C-9C5CF096340B}" srcOrd="0" destOrd="0" presId="urn:microsoft.com/office/officeart/2005/8/layout/vList2"/>
    <dgm:cxn modelId="{40557DA9-4BFE-4EB7-B782-23A4BD34A950}" type="presParOf" srcId="{585F1E56-3892-4C5C-9392-25D4E7BF010B}" destId="{E690B408-0ED2-412A-B08C-9C5CF096340B}" srcOrd="0" destOrd="0" presId="urn:microsoft.com/office/officeart/2005/8/layout/vList2"/>
    <dgm:cxn modelId="{1C7E1764-FB91-4C72-A0DC-A8890F2ED6ED}" type="presParOf" srcId="{585F1E56-3892-4C5C-9392-25D4E7BF010B}" destId="{674B0D19-BF8F-4044-B988-F016FE8E18FC}" srcOrd="1" destOrd="0" presId="urn:microsoft.com/office/officeart/2005/8/layout/vList2"/>
    <dgm:cxn modelId="{07782E26-96CD-40B1-BE3F-C14B48F84AEE}" type="presParOf" srcId="{585F1E56-3892-4C5C-9392-25D4E7BF010B}" destId="{082FF890-134A-4159-A384-2B6504CFB122}" srcOrd="2" destOrd="0" presId="urn:microsoft.com/office/officeart/2005/8/layout/vList2"/>
    <dgm:cxn modelId="{C6D97A30-6158-41F7-9925-776595232A7D}" type="presParOf" srcId="{585F1E56-3892-4C5C-9392-25D4E7BF010B}" destId="{94AEA754-3A49-446C-8A05-207720609C6F}" srcOrd="3" destOrd="0" presId="urn:microsoft.com/office/officeart/2005/8/layout/vList2"/>
    <dgm:cxn modelId="{794D8102-783D-46C1-B504-8D3025AF8D28}" type="presParOf" srcId="{585F1E56-3892-4C5C-9392-25D4E7BF010B}" destId="{961A5DA9-1F46-4EB8-8988-44E9E2EE0574}" srcOrd="4" destOrd="0" presId="urn:microsoft.com/office/officeart/2005/8/layout/vList2"/>
    <dgm:cxn modelId="{8B0F3A44-3085-462B-9607-DCDE3E1BCE67}" type="presParOf" srcId="{585F1E56-3892-4C5C-9392-25D4E7BF010B}" destId="{853042D6-9B2D-4C56-BFC7-2F2BA514E329}" srcOrd="5" destOrd="0" presId="urn:microsoft.com/office/officeart/2005/8/layout/vList2"/>
    <dgm:cxn modelId="{C642E25B-17A9-4419-81C0-773FEC0F1648}" type="presParOf" srcId="{585F1E56-3892-4C5C-9392-25D4E7BF010B}" destId="{5B56B112-4A23-4EDC-BE81-25A5A29E8445}" srcOrd="6" destOrd="0" presId="urn:microsoft.com/office/officeart/2005/8/layout/vList2"/>
    <dgm:cxn modelId="{5A5A8AFD-AE72-4248-BC7F-5A6187CF5394}" type="presParOf" srcId="{585F1E56-3892-4C5C-9392-25D4E7BF010B}" destId="{2F285D7F-E337-465C-A15E-22B8A35015AC}" srcOrd="7" destOrd="0" presId="urn:microsoft.com/office/officeart/2005/8/layout/vList2"/>
    <dgm:cxn modelId="{EEA134F2-EC29-4885-A7DC-FDD341BE91FF}" type="presParOf" srcId="{585F1E56-3892-4C5C-9392-25D4E7BF010B}" destId="{0E74ED47-CEE0-4E12-B4B5-2F523BE1A329}" srcOrd="8" destOrd="0" presId="urn:microsoft.com/office/officeart/2005/8/layout/vList2"/>
    <dgm:cxn modelId="{C20A0FC1-9125-487E-8333-4D3A29528E6B}" type="presParOf" srcId="{585F1E56-3892-4C5C-9392-25D4E7BF010B}" destId="{9B135759-ABD2-4F5C-B438-3E52DFE914F7}" srcOrd="9" destOrd="0" presId="urn:microsoft.com/office/officeart/2005/8/layout/vList2"/>
    <dgm:cxn modelId="{5BED65D7-DF27-40CA-9786-8A21B6EF48D6}" type="presParOf" srcId="{585F1E56-3892-4C5C-9392-25D4E7BF010B}" destId="{5078320E-81C5-418A-A817-F704921D2CA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804BE8-D0C2-4E2F-B0EB-EC8F48B0809D}">
      <dsp:nvSpPr>
        <dsp:cNvPr id="0" name=""/>
        <dsp:cNvSpPr/>
      </dsp:nvSpPr>
      <dsp:spPr>
        <a:xfrm>
          <a:off x="0" y="1407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B00E4E-9DB8-4D54-A522-E5CB1648A382}">
      <dsp:nvSpPr>
        <dsp:cNvPr id="0" name=""/>
        <dsp:cNvSpPr/>
      </dsp:nvSpPr>
      <dsp:spPr>
        <a:xfrm>
          <a:off x="181438" y="136361"/>
          <a:ext cx="329887" cy="3298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306C10-CB29-4A3D-9A28-495CC13701AD}">
      <dsp:nvSpPr>
        <dsp:cNvPr id="0" name=""/>
        <dsp:cNvSpPr/>
      </dsp:nvSpPr>
      <dsp:spPr>
        <a:xfrm>
          <a:off x="692764" y="1407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Unit conversion is an essential requirement in various fields such as education, engineering, finance, and daily life.</a:t>
          </a:r>
        </a:p>
      </dsp:txBody>
      <dsp:txXfrm>
        <a:off x="692764" y="1407"/>
        <a:ext cx="9822835" cy="599796"/>
      </dsp:txXfrm>
    </dsp:sp>
    <dsp:sp modelId="{A5B0A316-1235-49D5-AC12-ECC25A3C2ACD}">
      <dsp:nvSpPr>
        <dsp:cNvPr id="0" name=""/>
        <dsp:cNvSpPr/>
      </dsp:nvSpPr>
      <dsp:spPr>
        <a:xfrm>
          <a:off x="0" y="751152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56D456-8000-4D28-A2A8-AB01334AB600}">
      <dsp:nvSpPr>
        <dsp:cNvPr id="0" name=""/>
        <dsp:cNvSpPr/>
      </dsp:nvSpPr>
      <dsp:spPr>
        <a:xfrm>
          <a:off x="181438" y="886107"/>
          <a:ext cx="329887" cy="3298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3B18A6-D893-45CD-BA72-B64DD72CD2C2}">
      <dsp:nvSpPr>
        <dsp:cNvPr id="0" name=""/>
        <dsp:cNvSpPr/>
      </dsp:nvSpPr>
      <dsp:spPr>
        <a:xfrm>
          <a:off x="692764" y="751152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Different measurement systems are used worldwide, creating the need for accurate and quick conversion between units.</a:t>
          </a:r>
        </a:p>
      </dsp:txBody>
      <dsp:txXfrm>
        <a:off x="692764" y="751152"/>
        <a:ext cx="9822835" cy="599796"/>
      </dsp:txXfrm>
    </dsp:sp>
    <dsp:sp modelId="{3D1511F2-0753-494F-AF18-9188336ADB4C}">
      <dsp:nvSpPr>
        <dsp:cNvPr id="0" name=""/>
        <dsp:cNvSpPr/>
      </dsp:nvSpPr>
      <dsp:spPr>
        <a:xfrm>
          <a:off x="0" y="150089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53614A-CF5E-49D4-842D-3FD412750922}">
      <dsp:nvSpPr>
        <dsp:cNvPr id="0" name=""/>
        <dsp:cNvSpPr/>
      </dsp:nvSpPr>
      <dsp:spPr>
        <a:xfrm>
          <a:off x="181438" y="1635852"/>
          <a:ext cx="329887" cy="3298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A73D78-2E1B-46FE-9944-C96956FC7B1E}">
      <dsp:nvSpPr>
        <dsp:cNvPr id="0" name=""/>
        <dsp:cNvSpPr/>
      </dsp:nvSpPr>
      <dsp:spPr>
        <a:xfrm>
          <a:off x="692764" y="150089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Manual conversion methods can be complex, time-consuming, and prone to errors.</a:t>
          </a:r>
        </a:p>
      </dsp:txBody>
      <dsp:txXfrm>
        <a:off x="692764" y="1500898"/>
        <a:ext cx="9822835" cy="599796"/>
      </dsp:txXfrm>
    </dsp:sp>
    <dsp:sp modelId="{6D458249-6B19-439C-9144-C861DB5618FF}">
      <dsp:nvSpPr>
        <dsp:cNvPr id="0" name=""/>
        <dsp:cNvSpPr/>
      </dsp:nvSpPr>
      <dsp:spPr>
        <a:xfrm>
          <a:off x="0" y="2250643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68AA24-CC2C-4A71-B746-A54612CD0964}">
      <dsp:nvSpPr>
        <dsp:cNvPr id="0" name=""/>
        <dsp:cNvSpPr/>
      </dsp:nvSpPr>
      <dsp:spPr>
        <a:xfrm>
          <a:off x="181438" y="2385597"/>
          <a:ext cx="329887" cy="3298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5AFE8C-27F4-447E-89B6-A887F28F86DF}">
      <dsp:nvSpPr>
        <dsp:cNvPr id="0" name=""/>
        <dsp:cNvSpPr/>
      </dsp:nvSpPr>
      <dsp:spPr>
        <a:xfrm>
          <a:off x="692764" y="2250643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Unit Converter Calculator is designed to provide a </a:t>
          </a:r>
          <a:r>
            <a:rPr lang="en-US" sz="1500" b="1" kern="1200"/>
            <a:t>simple, fast, and reliable solution</a:t>
          </a:r>
          <a:r>
            <a:rPr lang="en-US" sz="1500" kern="1200"/>
            <a:t> for converting multiple unit types in one application.</a:t>
          </a:r>
        </a:p>
      </dsp:txBody>
      <dsp:txXfrm>
        <a:off x="692764" y="2250643"/>
        <a:ext cx="9822835" cy="599796"/>
      </dsp:txXfrm>
    </dsp:sp>
    <dsp:sp modelId="{B2EEE435-FD8F-4D8E-979D-0E8B8FCD2ECA}">
      <dsp:nvSpPr>
        <dsp:cNvPr id="0" name=""/>
        <dsp:cNvSpPr/>
      </dsp:nvSpPr>
      <dsp:spPr>
        <a:xfrm>
          <a:off x="0" y="300038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59F5E2-A6AC-4F17-8C72-B93764D238DE}">
      <dsp:nvSpPr>
        <dsp:cNvPr id="0" name=""/>
        <dsp:cNvSpPr/>
      </dsp:nvSpPr>
      <dsp:spPr>
        <a:xfrm>
          <a:off x="181438" y="3135342"/>
          <a:ext cx="329887" cy="3298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2ABC63-DC8C-4D4A-A434-B9B0DC050763}">
      <dsp:nvSpPr>
        <dsp:cNvPr id="0" name=""/>
        <dsp:cNvSpPr/>
      </dsp:nvSpPr>
      <dsp:spPr>
        <a:xfrm>
          <a:off x="692764" y="300038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It offers an </a:t>
          </a:r>
          <a:r>
            <a:rPr lang="en-US" sz="1500" b="1" kern="1200"/>
            <a:t>intuitive user interface and efficient functionality</a:t>
          </a:r>
          <a:r>
            <a:rPr lang="en-US" sz="1500" kern="1200"/>
            <a:t>, ensuring a smooth and user-friendly experience.</a:t>
          </a:r>
        </a:p>
      </dsp:txBody>
      <dsp:txXfrm>
        <a:off x="692764" y="3000388"/>
        <a:ext cx="9822835" cy="599796"/>
      </dsp:txXfrm>
    </dsp:sp>
    <dsp:sp modelId="{E380657B-711C-4C40-A81F-17D08E5384CC}">
      <dsp:nvSpPr>
        <dsp:cNvPr id="0" name=""/>
        <dsp:cNvSpPr/>
      </dsp:nvSpPr>
      <dsp:spPr>
        <a:xfrm>
          <a:off x="0" y="3750134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F5EE5E-41C2-4E28-88B5-50BD2928FEED}">
      <dsp:nvSpPr>
        <dsp:cNvPr id="0" name=""/>
        <dsp:cNvSpPr/>
      </dsp:nvSpPr>
      <dsp:spPr>
        <a:xfrm>
          <a:off x="181438" y="3885088"/>
          <a:ext cx="329887" cy="32988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C22104-E212-45DE-BBEE-B1C6A3FF43AA}">
      <dsp:nvSpPr>
        <dsp:cNvPr id="0" name=""/>
        <dsp:cNvSpPr/>
      </dsp:nvSpPr>
      <dsp:spPr>
        <a:xfrm>
          <a:off x="692764" y="3750134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application helps users perform conversions accurately, improving productivity and reducing calculation effort.</a:t>
          </a:r>
        </a:p>
      </dsp:txBody>
      <dsp:txXfrm>
        <a:off x="692764" y="3750134"/>
        <a:ext cx="9822835" cy="5997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E5D5C-4C70-4531-A3EB-76349C6DAA98}">
      <dsp:nvSpPr>
        <dsp:cNvPr id="0" name=""/>
        <dsp:cNvSpPr/>
      </dsp:nvSpPr>
      <dsp:spPr>
        <a:xfrm>
          <a:off x="3323664" y="834988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28399" y="877339"/>
        <a:ext cx="33687" cy="6737"/>
      </dsp:txXfrm>
    </dsp:sp>
    <dsp:sp modelId="{13B34563-060C-4617-9F16-1E9FE31CDBDC}">
      <dsp:nvSpPr>
        <dsp:cNvPr id="0" name=""/>
        <dsp:cNvSpPr/>
      </dsp:nvSpPr>
      <dsp:spPr>
        <a:xfrm>
          <a:off x="396080" y="1893"/>
          <a:ext cx="2929383" cy="17576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Users often need to convert between different units such as currency, length, speed, volume, data, and angles in academic, professional, and daily activities.</a:t>
          </a:r>
        </a:p>
      </dsp:txBody>
      <dsp:txXfrm>
        <a:off x="396080" y="1893"/>
        <a:ext cx="2929383" cy="1757630"/>
      </dsp:txXfrm>
    </dsp:sp>
    <dsp:sp modelId="{668CC0EC-2AEA-4867-96B2-00B08CE3C0E3}">
      <dsp:nvSpPr>
        <dsp:cNvPr id="0" name=""/>
        <dsp:cNvSpPr/>
      </dsp:nvSpPr>
      <dsp:spPr>
        <a:xfrm>
          <a:off x="6926806" y="834988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31541" y="877339"/>
        <a:ext cx="33687" cy="6737"/>
      </dsp:txXfrm>
    </dsp:sp>
    <dsp:sp modelId="{72533922-3660-495D-B412-EB1EAE241B3B}">
      <dsp:nvSpPr>
        <dsp:cNvPr id="0" name=""/>
        <dsp:cNvSpPr/>
      </dsp:nvSpPr>
      <dsp:spPr>
        <a:xfrm>
          <a:off x="3999222" y="1893"/>
          <a:ext cx="2929383" cy="175763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Existing solutions are often </a:t>
          </a:r>
          <a:r>
            <a:rPr lang="en-US" sz="1700" b="1" kern="1200"/>
            <a:t>fragmented, complex, or require internet access</a:t>
          </a:r>
          <a:r>
            <a:rPr lang="en-US" sz="1700" kern="1200"/>
            <a:t>, making quick and efficient conversion difficult.</a:t>
          </a:r>
        </a:p>
      </dsp:txBody>
      <dsp:txXfrm>
        <a:off x="3999222" y="1893"/>
        <a:ext cx="2929383" cy="1757630"/>
      </dsp:txXfrm>
    </dsp:sp>
    <dsp:sp modelId="{BB9EC3E6-59F7-4BE1-9E95-5C4076481E89}">
      <dsp:nvSpPr>
        <dsp:cNvPr id="0" name=""/>
        <dsp:cNvSpPr/>
      </dsp:nvSpPr>
      <dsp:spPr>
        <a:xfrm>
          <a:off x="1860772" y="1757723"/>
          <a:ext cx="7206284" cy="643158"/>
        </a:xfrm>
        <a:custGeom>
          <a:avLst/>
          <a:gdLst/>
          <a:ahLst/>
          <a:cxnLst/>
          <a:rect l="0" t="0" r="0" b="0"/>
          <a:pathLst>
            <a:path>
              <a:moveTo>
                <a:pt x="7206284" y="0"/>
              </a:moveTo>
              <a:lnTo>
                <a:pt x="7206284" y="338679"/>
              </a:lnTo>
              <a:lnTo>
                <a:pt x="0" y="338679"/>
              </a:lnTo>
              <a:lnTo>
                <a:pt x="0" y="643158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82971" y="2075933"/>
        <a:ext cx="361885" cy="6737"/>
      </dsp:txXfrm>
    </dsp:sp>
    <dsp:sp modelId="{692EED25-2299-432D-BEA6-CA575C034D40}">
      <dsp:nvSpPr>
        <dsp:cNvPr id="0" name=""/>
        <dsp:cNvSpPr/>
      </dsp:nvSpPr>
      <dsp:spPr>
        <a:xfrm>
          <a:off x="7602364" y="1893"/>
          <a:ext cx="2929383" cy="175763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Many applications lack a </a:t>
          </a:r>
          <a:r>
            <a:rPr lang="en-US" sz="1700" b="1" kern="1200"/>
            <a:t>simple, unified, and user-friendly interface</a:t>
          </a:r>
          <a:r>
            <a:rPr lang="en-US" sz="1700" kern="1200"/>
            <a:t> for handling multiple conversion types in one place.</a:t>
          </a:r>
        </a:p>
      </dsp:txBody>
      <dsp:txXfrm>
        <a:off x="7602364" y="1893"/>
        <a:ext cx="2929383" cy="1757630"/>
      </dsp:txXfrm>
    </dsp:sp>
    <dsp:sp modelId="{87342BA9-6395-4DC5-8671-69685FA310C4}">
      <dsp:nvSpPr>
        <dsp:cNvPr id="0" name=""/>
        <dsp:cNvSpPr/>
      </dsp:nvSpPr>
      <dsp:spPr>
        <a:xfrm>
          <a:off x="3323664" y="3266376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28399" y="3308728"/>
        <a:ext cx="33687" cy="6737"/>
      </dsp:txXfrm>
    </dsp:sp>
    <dsp:sp modelId="{9D584121-D577-426F-A997-A3CB54ED8D62}">
      <dsp:nvSpPr>
        <dsp:cNvPr id="0" name=""/>
        <dsp:cNvSpPr/>
      </dsp:nvSpPr>
      <dsp:spPr>
        <a:xfrm>
          <a:off x="396080" y="2433281"/>
          <a:ext cx="2929383" cy="175763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Manual conversion methods are </a:t>
          </a:r>
          <a:r>
            <a:rPr lang="en-US" sz="1700" b="1" kern="1200"/>
            <a:t>time-consuming and prone to calculation errors</a:t>
          </a:r>
          <a:r>
            <a:rPr lang="en-US" sz="1700" kern="1200"/>
            <a:t>.</a:t>
          </a:r>
        </a:p>
      </dsp:txBody>
      <dsp:txXfrm>
        <a:off x="396080" y="2433281"/>
        <a:ext cx="2929383" cy="1757630"/>
      </dsp:txXfrm>
    </dsp:sp>
    <dsp:sp modelId="{6EF0F129-3182-4545-9F1F-39AD2C4215CE}">
      <dsp:nvSpPr>
        <dsp:cNvPr id="0" name=""/>
        <dsp:cNvSpPr/>
      </dsp:nvSpPr>
      <dsp:spPr>
        <a:xfrm>
          <a:off x="3999222" y="2433281"/>
          <a:ext cx="2929383" cy="175763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There is a need for a </a:t>
          </a:r>
          <a:r>
            <a:rPr lang="en-US" sz="1700" b="1" kern="1200"/>
            <a:t>reliable, accurate, and easy-to-use converter</a:t>
          </a:r>
          <a:r>
            <a:rPr lang="en-US" sz="1700" kern="1200"/>
            <a:t> that integrates multiple unit conversion functionalities into a single application.</a:t>
          </a:r>
        </a:p>
      </dsp:txBody>
      <dsp:txXfrm>
        <a:off x="3999222" y="2433281"/>
        <a:ext cx="2929383" cy="17576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90B408-0ED2-412A-B08C-9C5CF096340B}">
      <dsp:nvSpPr>
        <dsp:cNvPr id="0" name=""/>
        <dsp:cNvSpPr/>
      </dsp:nvSpPr>
      <dsp:spPr>
        <a:xfrm>
          <a:off x="0" y="69619"/>
          <a:ext cx="6666833" cy="8353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Gained practical experience in </a:t>
          </a:r>
          <a:r>
            <a:rPr lang="en-US" sz="2100" b="1" kern="1200"/>
            <a:t>designing and developing a user-friendly desktop application</a:t>
          </a:r>
          <a:r>
            <a:rPr lang="en-US" sz="2100" kern="1200"/>
            <a:t>.</a:t>
          </a:r>
        </a:p>
      </dsp:txBody>
      <dsp:txXfrm>
        <a:off x="40780" y="110399"/>
        <a:ext cx="6585273" cy="753819"/>
      </dsp:txXfrm>
    </dsp:sp>
    <dsp:sp modelId="{082FF890-134A-4159-A384-2B6504CFB122}">
      <dsp:nvSpPr>
        <dsp:cNvPr id="0" name=""/>
        <dsp:cNvSpPr/>
      </dsp:nvSpPr>
      <dsp:spPr>
        <a:xfrm>
          <a:off x="0" y="965479"/>
          <a:ext cx="6666833" cy="835379"/>
        </a:xfrm>
        <a:prstGeom prst="roundRect">
          <a:avLst/>
        </a:prstGeom>
        <a:gradFill rotWithShape="0">
          <a:gsLst>
            <a:gs pos="0">
              <a:schemeClr val="accent2">
                <a:hueOff val="-291073"/>
                <a:satOff val="-16786"/>
                <a:lumOff val="17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291073"/>
                <a:satOff val="-16786"/>
                <a:lumOff val="17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291073"/>
                <a:satOff val="-16786"/>
                <a:lumOff val="17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Learned to implement </a:t>
          </a:r>
          <a:r>
            <a:rPr lang="en-US" sz="2100" b="1" kern="1200"/>
            <a:t>unit conversion logic and mathematical calculations</a:t>
          </a:r>
          <a:r>
            <a:rPr lang="en-US" sz="2100" kern="1200"/>
            <a:t> accurately.</a:t>
          </a:r>
        </a:p>
      </dsp:txBody>
      <dsp:txXfrm>
        <a:off x="40780" y="1006259"/>
        <a:ext cx="6585273" cy="753819"/>
      </dsp:txXfrm>
    </dsp:sp>
    <dsp:sp modelId="{961A5DA9-1F46-4EB8-8988-44E9E2EE0574}">
      <dsp:nvSpPr>
        <dsp:cNvPr id="0" name=""/>
        <dsp:cNvSpPr/>
      </dsp:nvSpPr>
      <dsp:spPr>
        <a:xfrm>
          <a:off x="0" y="1861339"/>
          <a:ext cx="6666833" cy="835379"/>
        </a:xfrm>
        <a:prstGeom prst="roundRect">
          <a:avLst/>
        </a:prstGeom>
        <a:gradFill rotWithShape="0">
          <a:gsLst>
            <a:gs pos="0">
              <a:schemeClr val="accent2">
                <a:hueOff val="-582145"/>
                <a:satOff val="-33571"/>
                <a:lumOff val="34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582145"/>
                <a:satOff val="-33571"/>
                <a:lumOff val="34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582145"/>
                <a:satOff val="-33571"/>
                <a:lumOff val="34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Improved skills in </a:t>
          </a:r>
          <a:r>
            <a:rPr lang="en-US" sz="2100" b="1" kern="1200"/>
            <a:t>User Interface (UI) design and usability principles</a:t>
          </a:r>
          <a:r>
            <a:rPr lang="en-US" sz="2100" kern="1200"/>
            <a:t>.</a:t>
          </a:r>
        </a:p>
      </dsp:txBody>
      <dsp:txXfrm>
        <a:off x="40780" y="1902119"/>
        <a:ext cx="6585273" cy="753819"/>
      </dsp:txXfrm>
    </dsp:sp>
    <dsp:sp modelId="{5B56B112-4A23-4EDC-BE81-25A5A29E8445}">
      <dsp:nvSpPr>
        <dsp:cNvPr id="0" name=""/>
        <dsp:cNvSpPr/>
      </dsp:nvSpPr>
      <dsp:spPr>
        <a:xfrm>
          <a:off x="0" y="2757200"/>
          <a:ext cx="6666833" cy="835379"/>
        </a:xfrm>
        <a:prstGeom prst="roundRect">
          <a:avLst/>
        </a:prstGeom>
        <a:gradFill rotWithShape="0">
          <a:gsLst>
            <a:gs pos="0">
              <a:schemeClr val="accent2">
                <a:hueOff val="-873218"/>
                <a:satOff val="-50357"/>
                <a:lumOff val="5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873218"/>
                <a:satOff val="-50357"/>
                <a:lumOff val="5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873218"/>
                <a:satOff val="-50357"/>
                <a:lumOff val="5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Understood the importance of </a:t>
          </a:r>
          <a:r>
            <a:rPr lang="en-US" sz="2100" b="1" kern="1200"/>
            <a:t>structured programming and modular application design</a:t>
          </a:r>
          <a:r>
            <a:rPr lang="en-US" sz="2100" kern="1200"/>
            <a:t>.</a:t>
          </a:r>
        </a:p>
      </dsp:txBody>
      <dsp:txXfrm>
        <a:off x="40780" y="2797980"/>
        <a:ext cx="6585273" cy="753819"/>
      </dsp:txXfrm>
    </dsp:sp>
    <dsp:sp modelId="{0E74ED47-CEE0-4E12-B4B5-2F523BE1A329}">
      <dsp:nvSpPr>
        <dsp:cNvPr id="0" name=""/>
        <dsp:cNvSpPr/>
      </dsp:nvSpPr>
      <dsp:spPr>
        <a:xfrm>
          <a:off x="0" y="3653060"/>
          <a:ext cx="6666833" cy="835379"/>
        </a:xfrm>
        <a:prstGeom prst="roundRect">
          <a:avLst/>
        </a:prstGeom>
        <a:gradFill rotWithShape="0">
          <a:gsLst>
            <a:gs pos="0">
              <a:schemeClr val="accent2">
                <a:hueOff val="-1164290"/>
                <a:satOff val="-67142"/>
                <a:lumOff val="69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164290"/>
                <a:satOff val="-67142"/>
                <a:lumOff val="69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164290"/>
                <a:satOff val="-67142"/>
                <a:lumOff val="69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Developed knowledge of </a:t>
          </a:r>
          <a:r>
            <a:rPr lang="en-US" sz="2100" b="1" kern="1200"/>
            <a:t>handling user input, processing data, and displaying results efficiently</a:t>
          </a:r>
          <a:r>
            <a:rPr lang="en-US" sz="2100" kern="1200"/>
            <a:t>.</a:t>
          </a:r>
        </a:p>
      </dsp:txBody>
      <dsp:txXfrm>
        <a:off x="40780" y="3693840"/>
        <a:ext cx="6585273" cy="753819"/>
      </dsp:txXfrm>
    </dsp:sp>
    <dsp:sp modelId="{5078320E-81C5-418A-A817-F704921D2CAF}">
      <dsp:nvSpPr>
        <dsp:cNvPr id="0" name=""/>
        <dsp:cNvSpPr/>
      </dsp:nvSpPr>
      <dsp:spPr>
        <a:xfrm>
          <a:off x="0" y="4548920"/>
          <a:ext cx="6666833" cy="835379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Enhanced problem-solving abilities and gained experience in </a:t>
          </a:r>
          <a:r>
            <a:rPr lang="en-US" sz="2100" b="1" kern="1200"/>
            <a:t>building real-world software solutions</a:t>
          </a:r>
          <a:r>
            <a:rPr lang="en-US" sz="2100" kern="1200"/>
            <a:t>.</a:t>
          </a:r>
        </a:p>
      </dsp:txBody>
      <dsp:txXfrm>
        <a:off x="40780" y="4589700"/>
        <a:ext cx="6585273" cy="753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C04BF-C794-4C64-876F-F5A75D40B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84FF6A-3BE0-4FE7-8738-8AC4D4A9C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F89A3-9C92-4466-AF47-65381D9E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ACFB-6E50-4E72-B3ED-7EFA71C45B6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5A1D5-89D0-436F-9549-837617AB9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2CF49-CC56-40CF-AD6F-0CA9779DD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10B13-7C85-41A7-9D69-3DD778BCC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286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3D262-758C-493A-B830-03A87F4C1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B621E-5901-4393-8DE7-A05FC722A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642B4-4146-4668-9BB0-EA559186C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ACFB-6E50-4E72-B3ED-7EFA71C45B6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F6C58-4BCA-4AD1-9034-0D8A1DBE3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C382D-5098-4B95-9094-FFC958E02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10B13-7C85-41A7-9D69-3DD778BCC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9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BF638-9EDF-4811-92C3-C97EB3C5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7F1D2-E6F3-4B7C-92F7-44A5B2A93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ADCA7-64DD-45F7-8CE9-DFD3425F1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ACFB-6E50-4E72-B3ED-7EFA71C45B6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F5593-25D9-4318-BBE4-DE2D07A35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F0310-3FE0-414E-9DCF-76A89BF23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10B13-7C85-41A7-9D69-3DD778BCC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4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93746-5E7A-4604-A276-0EB2994E6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76B51-BFB2-4BB1-9278-457218E1DE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0435B-A576-4559-8F32-65671B019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26534-9F54-48D5-8007-403916F2D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ACFB-6E50-4E72-B3ED-7EFA71C45B6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1F69A-6813-4C15-906F-F65872308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B3D2E6-CFDC-4E2A-A18A-A691C033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10B13-7C85-41A7-9D69-3DD778BCC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46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200B-B8E1-44EB-9A1B-031B0CCCE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10326-4B6C-4B46-98BD-99F8C7D66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D303CA-3A34-43B4-9075-5AE283091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0CD557-2EE9-4A30-9D1E-8BE125681D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27C1B9-241F-4A41-A2B1-0DE844A886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F48BB2-86E2-475C-8CD4-A4F5C7C7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ACFB-6E50-4E72-B3ED-7EFA71C45B6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5B353-4F40-4959-914B-026B71E1F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990CD4-CDF6-4FC7-A288-2E49C1022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10B13-7C85-41A7-9D69-3DD778BCC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97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45055-BDEE-4CBA-810B-7E3B7598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C8979-EC3C-4F1D-BCC5-DE6F921B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ACFB-6E50-4E72-B3ED-7EFA71C45B6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2BE04-EEE5-41E7-963C-6F7D5D3B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A0B14-D914-4FBC-931D-1CB956BCF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10B13-7C85-41A7-9D69-3DD778BCC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265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2D9D52-C261-46C2-B2C4-EA1366BDA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ACFB-6E50-4E72-B3ED-7EFA71C45B6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4539D7-C933-4A2C-A50F-BC9052868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97797-5748-4B8A-8EA4-3157546FA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10B13-7C85-41A7-9D69-3DD778BCC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700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71EB5-8D51-490C-8070-2D9D16A23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106FE-5D1C-4481-BA83-8CA85D01E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E4D32-1932-4619-86C4-EB6F19507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D27F2-2CE2-4830-9FDF-AFD773D9B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ACFB-6E50-4E72-B3ED-7EFA71C45B6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94FFE-AEB0-4C2F-8CFC-A1C444C08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76F5D-52EF-4152-AB70-180D267A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10B13-7C85-41A7-9D69-3DD778BCC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071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2937-1E33-4EA4-8926-0DFA33505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A4293-B82E-4EEF-A2B6-1F28A8405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5CA95-D38F-40D0-A714-B8658D43B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EF803-A9DA-4AD9-BC51-00EEAA5CC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ACFB-6E50-4E72-B3ED-7EFA71C45B6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9A726-E585-46E9-8D1D-A6A9C9EA5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C7632-0DEE-48D1-82DF-0297CA01E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10B13-7C85-41A7-9D69-3DD778BCC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38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C2FD-A14D-4135-AE76-0FFF33EE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7C0F7-7AD3-4384-9CBA-E6502BC3B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9FBD0-AA18-4342-9347-1E90F08AE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ACFB-6E50-4E72-B3ED-7EFA71C45B6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B5CE0-DF96-4E73-811C-8700D5C61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9E390-8087-4F20-8F37-E3572DBD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10B13-7C85-41A7-9D69-3DD778BCC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341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7FD75D-7B85-4E78-A4F6-097574C3D0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77416-67BE-4FE5-9AFE-A0FD99D6E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1B4C4-B374-4A63-B5FB-234E537E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ACFB-6E50-4E72-B3ED-7EFA71C45B6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42DBB-A630-43AF-BDAA-63D69DD61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96E20-96A8-4CC9-BE54-BCC88E471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10B13-7C85-41A7-9D69-3DD778BCC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616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706C3F-CBD3-48AF-9379-354BCBE7B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2D5A0-9EDD-469F-90D1-F5907BBCB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22404-D9B5-4E56-B8D3-45EEBB87F3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BACFB-6E50-4E72-B3ED-7EFA71C45B6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B2E07-DC65-4B4F-9AAF-ACED9C7864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7DABB-EB37-495B-92D0-BE8C95590A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10B13-7C85-41A7-9D69-3DD778BCC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231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5" name="Rectangle 26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Freeform: Shape 26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9B6B43-AE15-49CF-AF55-F5E56A8DC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696" y="367375"/>
            <a:ext cx="3716077" cy="3071906"/>
          </a:xfrm>
        </p:spPr>
        <p:txBody>
          <a:bodyPr anchor="t">
            <a:normAutofit/>
          </a:bodyPr>
          <a:lstStyle/>
          <a:p>
            <a:pPr algn="l"/>
            <a:r>
              <a:rPr lang="en-IN" sz="4000" b="1" dirty="0">
                <a:solidFill>
                  <a:srgbClr val="FFFFFF"/>
                </a:solidFill>
              </a:rPr>
              <a:t>Next-Generation Multi-Functional Calculator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24AD0-BD08-4E2B-B33C-824D672AC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387" y="3206555"/>
            <a:ext cx="4045675" cy="1937669"/>
          </a:xfrm>
        </p:spPr>
        <p:txBody>
          <a:bodyPr anchor="b">
            <a:noAutofit/>
          </a:bodyPr>
          <a:lstStyle/>
          <a:p>
            <a:pPr algn="l"/>
            <a:r>
              <a:rPr lang="en-US" sz="2800" dirty="0">
                <a:solidFill>
                  <a:srgbClr val="FFFFFF"/>
                </a:solidFill>
              </a:rPr>
              <a:t>Design and Development of an Advanced Multi-Interface Computational System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BB2D4C-3606-48ED-86E2-57EF8EC4E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496795"/>
            <a:ext cx="7225748" cy="34322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CBEA4E-BF78-4362-B009-47EC4AAA6C91}"/>
              </a:ext>
            </a:extLst>
          </p:cNvPr>
          <p:cNvSpPr txBox="1"/>
          <p:nvPr/>
        </p:nvSpPr>
        <p:spPr>
          <a:xfrm>
            <a:off x="4501010" y="5546892"/>
            <a:ext cx="4840611" cy="938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dirty="0"/>
              <a:t>Submitted By :- Yug Rathi</a:t>
            </a:r>
            <a:endParaRPr lang="en-US" sz="3200"/>
          </a:p>
          <a:p>
            <a:pPr>
              <a:spcAft>
                <a:spcPts val="6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43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B470-6103-4472-95A1-34E90B5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58" name="Content Placeholder 2">
            <a:extLst>
              <a:ext uri="{FF2B5EF4-FFF2-40B4-BE49-F238E27FC236}">
                <a16:creationId xmlns:a16="http://schemas.microsoft.com/office/drawing/2014/main" id="{705362FF-95FE-0C6D-1847-5695DEEA6D8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5327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7F888-CAAC-41E0-871F-AA95DB8EA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FE21D39-5BD9-4FAD-8F28-5141FFBA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The Unit Converter Calculator is a </a:t>
            </a:r>
            <a:r>
              <a:rPr lang="en-US" sz="1700" b="1"/>
              <a:t>desktop-based application</a:t>
            </a:r>
            <a:r>
              <a:rPr lang="en-US" sz="1700"/>
              <a:t> designed to perform accurate and instant unit conversions across multiple categories.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It integrates various conversion modules including </a:t>
            </a:r>
            <a:r>
              <a:rPr lang="en-US" sz="1700" b="1"/>
              <a:t>Scientific,</a:t>
            </a:r>
            <a:r>
              <a:rPr lang="en-US" sz="1700"/>
              <a:t> </a:t>
            </a:r>
            <a:r>
              <a:rPr lang="en-US" sz="1700" b="1"/>
              <a:t>Programmer, Currency, Length, Speed, Volume, Data, and Angle, Etc</a:t>
            </a:r>
            <a:r>
              <a:rPr lang="en-US" sz="1700"/>
              <a:t> into a single unified platform.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The application features a </a:t>
            </a:r>
            <a:r>
              <a:rPr lang="en-US" sz="1700" b="1"/>
              <a:t>user-friendly interface with a consistent layout</a:t>
            </a:r>
            <a:r>
              <a:rPr lang="en-US" sz="1700"/>
              <a:t>, enabling users to easily select units, input values, and view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It provides </a:t>
            </a:r>
            <a:r>
              <a:rPr lang="en-US" sz="1700" b="1"/>
              <a:t>fast, reliable, and precise conversion results</a:t>
            </a:r>
            <a:r>
              <a:rPr lang="en-US" sz="1700"/>
              <a:t>, improving efficiency and reducing manual calculation effort.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The system is designed with a </a:t>
            </a:r>
            <a:r>
              <a:rPr lang="en-US" sz="1700" b="1"/>
              <a:t>modular and scalable architecture</a:t>
            </a:r>
            <a:r>
              <a:rPr lang="en-US" sz="1700"/>
              <a:t>, allowing future expansion to support additional unit types and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This project demonstrates the implementation of </a:t>
            </a:r>
            <a:r>
              <a:rPr lang="en-US" sz="1700" b="1"/>
              <a:t>logical processing, UI design, and real-world problem-solving</a:t>
            </a:r>
            <a:r>
              <a:rPr lang="en-US" sz="1700"/>
              <a:t> in a practical software solution.</a:t>
            </a:r>
          </a:p>
          <a:p>
            <a:endParaRPr lang="en-IN" sz="1700"/>
          </a:p>
        </p:txBody>
      </p:sp>
    </p:spTree>
    <p:extLst>
      <p:ext uri="{BB962C8B-B14F-4D97-AF65-F5344CB8AC3E}">
        <p14:creationId xmlns:p14="http://schemas.microsoft.com/office/powerpoint/2010/main" val="3771204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26009-1AC3-4765-8C05-6DB17D603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BB400134-4987-BBE9-506A-543FE1B525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216346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6158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455B44-8BCC-4373-BC67-B84BE879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Learning Outcomes</a:t>
            </a:r>
          </a:p>
        </p:txBody>
      </p:sp>
      <p:graphicFrame>
        <p:nvGraphicFramePr>
          <p:cNvPr id="66" name="Content Placeholder 2">
            <a:extLst>
              <a:ext uri="{FF2B5EF4-FFF2-40B4-BE49-F238E27FC236}">
                <a16:creationId xmlns:a16="http://schemas.microsoft.com/office/drawing/2014/main" id="{A59E9919-1286-CA08-416F-0CFC68D3A1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69499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2674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6" name="Rectangle 12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25706-8ACC-4ADD-81FF-BD10A84E0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UI/UX Design Insights &amp; Interface Analysis</a:t>
            </a:r>
            <a:b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FD9BEF-0244-416B-8F62-35937FBFC09B}"/>
              </a:ext>
            </a:extLst>
          </p:cNvPr>
          <p:cNvSpPr txBox="1"/>
          <p:nvPr/>
        </p:nvSpPr>
        <p:spPr>
          <a:xfrm>
            <a:off x="4581727" y="649480"/>
            <a:ext cx="3025303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1. Structured Grid-Based Layout</a:t>
            </a:r>
            <a:endParaRPr lang="en-US" sz="14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The calculator uses a clean grid system with uniformly sized buttons, ensuring visual balance, symmetry, and intuitive number placement following standard calculator conventions.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2. Clear Functional Grouping</a:t>
            </a:r>
            <a:endParaRPr lang="en-US" sz="14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Memory controls, numeric keypad, operators, and navigation menu are logically separated, improving usability and reducing cognitive load.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3. Visual Hierarchy &amp; Action Emphasis</a:t>
            </a:r>
            <a:endParaRPr lang="en-US" sz="14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The blue "=" button is highlighted to indicate the primary action, guiding user focus and improving interaction clarity.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4. Scalable Multi-Mode Architecture</a:t>
            </a:r>
            <a:endParaRPr lang="en-US" sz="14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The slide-in navigation panel supports multiple calculator modes (Standard, Scientific, Converters), demonstrating modular and expandable UI design.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792C34-3570-489E-AF16-EA2BF1291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502" y="653573"/>
            <a:ext cx="3615776" cy="556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39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1135A26D-9D47-467E-91F1-31149BF0D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78C2E5-C82D-4DD8-AF27-5BD6134E7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39336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/>
              <a:t>Advanced Scientific Calculator Interface &amp; Functional Design</a:t>
            </a:r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CB147A70-DC29-4DDF-A34C-2B82C6E22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19333" y="0"/>
            <a:ext cx="842502" cy="354793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BD51BB-70E6-477C-8DD4-C22EC98D619A}"/>
              </a:ext>
            </a:extLst>
          </p:cNvPr>
          <p:cNvSpPr txBox="1"/>
          <p:nvPr/>
        </p:nvSpPr>
        <p:spPr>
          <a:xfrm>
            <a:off x="838200" y="1825625"/>
            <a:ext cx="539336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1. Progressive Feature Disclosure</a:t>
            </a:r>
            <a:endParaRPr lang="en-US" sz="14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Scientific functions are organized under dropdown menus (Trigonometry &amp; Function), preventing interface overload while maintaining access to advanced operations.</a:t>
            </a:r>
            <a:endParaRPr lang="en-US" sz="14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2. Advanced Mathematical Integration</a:t>
            </a:r>
            <a:endParaRPr lang="en-US" sz="14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The interface supports higher-level operations such as factorial (n!), exponentiation (</a:t>
            </a:r>
            <a:r>
              <a:rPr lang="en-US" sz="1400" dirty="0" err="1"/>
              <a:t>xʸ</a:t>
            </a:r>
            <a:r>
              <a:rPr lang="en-US" sz="1400" dirty="0"/>
              <a:t>), logarithmic functions (log, ln), constants (π, e), and random generation, expanding capability beyond basic arithmetic.</a:t>
            </a:r>
            <a:endParaRPr lang="en-US" sz="14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/>
              <a:t>3. Dual-Layer Function </a:t>
            </a:r>
            <a:r>
              <a:rPr lang="en-US" sz="1400" dirty="0"/>
              <a:t>Categorization</a:t>
            </a:r>
            <a:endParaRPr lang="en-US" sz="140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Mathematical operations are intelligently separated into:</a:t>
            </a:r>
            <a:endParaRPr lang="en-US" sz="14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Trigonometric functions (sin, cos, tan, etc.)</a:t>
            </a:r>
            <a:endParaRPr lang="en-US" sz="14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Analytical functions (abs, floor, ceil, round, hyperbolic functions)</a:t>
            </a:r>
            <a:endParaRPr lang="en-US" sz="14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This improves conceptual clarity and structured learning.</a:t>
            </a:r>
            <a:endParaRPr lang="en-US" sz="14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4. Extended 5-Column Layout Optimization</a:t>
            </a:r>
            <a:endParaRPr lang="en-US" sz="14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The keypad expands from standard 4-column to 5-column layout, efficiently accommodating scientific operations without compromising button readability or spacing consistency.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B438362-1E1E-4C62-A99E-4134CB163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80791" y="1327365"/>
            <a:ext cx="610857" cy="61085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6C077334-5571-4B83-A83E-4CCCFA7B5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9536" y="0"/>
            <a:ext cx="2093996" cy="1402773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B3F799-40EA-4338-B4FB-3A501736F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774" y="2392776"/>
            <a:ext cx="1595978" cy="2533423"/>
          </a:xfrm>
          <a:custGeom>
            <a:avLst/>
            <a:gdLst/>
            <a:ahLst/>
            <a:cxnLst/>
            <a:rect l="l" t="t" r="r" b="b"/>
            <a:pathLst>
              <a:path w="1999274" h="2247255">
                <a:moveTo>
                  <a:pt x="108501" y="0"/>
                </a:moveTo>
                <a:lnTo>
                  <a:pt x="1890773" y="0"/>
                </a:lnTo>
                <a:cubicBezTo>
                  <a:pt x="1950696" y="0"/>
                  <a:pt x="1999274" y="48578"/>
                  <a:pt x="1999274" y="108501"/>
                </a:cubicBezTo>
                <a:lnTo>
                  <a:pt x="1999274" y="2138754"/>
                </a:lnTo>
                <a:cubicBezTo>
                  <a:pt x="1999274" y="2198677"/>
                  <a:pt x="1950696" y="2247255"/>
                  <a:pt x="1890773" y="2247255"/>
                </a:cubicBezTo>
                <a:lnTo>
                  <a:pt x="108501" y="2247255"/>
                </a:lnTo>
                <a:cubicBezTo>
                  <a:pt x="48578" y="2247255"/>
                  <a:pt x="0" y="2198677"/>
                  <a:pt x="0" y="2138754"/>
                </a:cubicBezTo>
                <a:lnTo>
                  <a:pt x="0" y="108501"/>
                </a:lnTo>
                <a:cubicBezTo>
                  <a:pt x="0" y="48578"/>
                  <a:pt x="48578" y="0"/>
                  <a:pt x="108501" y="0"/>
                </a:cubicBezTo>
                <a:close/>
              </a:path>
            </a:pathLst>
          </a:cu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339C8F-6D4A-4EE3-8276-16E03DFE0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504" y="558913"/>
            <a:ext cx="1615058" cy="2533423"/>
          </a:xfrm>
          <a:custGeom>
            <a:avLst/>
            <a:gdLst/>
            <a:ahLst/>
            <a:cxnLst/>
            <a:rect l="l" t="t" r="r" b="b"/>
            <a:pathLst>
              <a:path w="1999274" h="2247255">
                <a:moveTo>
                  <a:pt x="108501" y="0"/>
                </a:moveTo>
                <a:lnTo>
                  <a:pt x="1890773" y="0"/>
                </a:lnTo>
                <a:cubicBezTo>
                  <a:pt x="1950696" y="0"/>
                  <a:pt x="1999274" y="48578"/>
                  <a:pt x="1999274" y="108501"/>
                </a:cubicBezTo>
                <a:lnTo>
                  <a:pt x="1999274" y="2138754"/>
                </a:lnTo>
                <a:cubicBezTo>
                  <a:pt x="1999274" y="2198677"/>
                  <a:pt x="1950696" y="2247255"/>
                  <a:pt x="1890773" y="2247255"/>
                </a:cubicBezTo>
                <a:lnTo>
                  <a:pt x="108501" y="2247255"/>
                </a:lnTo>
                <a:cubicBezTo>
                  <a:pt x="48578" y="2247255"/>
                  <a:pt x="0" y="2198677"/>
                  <a:pt x="0" y="2138754"/>
                </a:cubicBezTo>
                <a:lnTo>
                  <a:pt x="0" y="108501"/>
                </a:lnTo>
                <a:cubicBezTo>
                  <a:pt x="0" y="48578"/>
                  <a:pt x="48578" y="0"/>
                  <a:pt x="108501" y="0"/>
                </a:cubicBezTo>
                <a:close/>
              </a:path>
            </a:pathLst>
          </a:cu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A94037-248B-42BD-B6EB-0A1E23525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503" y="3661942"/>
            <a:ext cx="1659392" cy="2533423"/>
          </a:xfrm>
          <a:custGeom>
            <a:avLst/>
            <a:gdLst/>
            <a:ahLst/>
            <a:cxnLst/>
            <a:rect l="l" t="t" r="r" b="b"/>
            <a:pathLst>
              <a:path w="3064284" h="3064284">
                <a:moveTo>
                  <a:pt x="166483" y="0"/>
                </a:moveTo>
                <a:lnTo>
                  <a:pt x="2897801" y="0"/>
                </a:lnTo>
                <a:cubicBezTo>
                  <a:pt x="2989747" y="0"/>
                  <a:pt x="3064284" y="74537"/>
                  <a:pt x="3064284" y="166483"/>
                </a:cubicBezTo>
                <a:lnTo>
                  <a:pt x="3064284" y="2897801"/>
                </a:lnTo>
                <a:cubicBezTo>
                  <a:pt x="3064284" y="2989747"/>
                  <a:pt x="2989747" y="3064284"/>
                  <a:pt x="2897801" y="3064284"/>
                </a:cubicBezTo>
                <a:lnTo>
                  <a:pt x="166483" y="3064284"/>
                </a:lnTo>
                <a:cubicBezTo>
                  <a:pt x="74537" y="3064284"/>
                  <a:pt x="0" y="2989747"/>
                  <a:pt x="0" y="2897801"/>
                </a:cubicBezTo>
                <a:lnTo>
                  <a:pt x="0" y="166483"/>
                </a:lnTo>
                <a:cubicBezTo>
                  <a:pt x="0" y="74537"/>
                  <a:pt x="74537" y="0"/>
                  <a:pt x="166483" y="0"/>
                </a:cubicBezTo>
                <a:close/>
              </a:path>
            </a:pathLst>
          </a:custGeom>
        </p:spPr>
      </p:pic>
      <p:sp>
        <p:nvSpPr>
          <p:cNvPr id="105" name="Arc 104">
            <a:extLst>
              <a:ext uri="{FF2B5EF4-FFF2-40B4-BE49-F238E27FC236}">
                <a16:creationId xmlns:a16="http://schemas.microsoft.com/office/drawing/2014/main" id="{4D3DC50D-CA0F-48F9-B17E-20D8669AA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76147" y="5530635"/>
            <a:ext cx="3939038" cy="3939038"/>
          </a:xfrm>
          <a:prstGeom prst="arc">
            <a:avLst>
              <a:gd name="adj1" fmla="val 16200000"/>
              <a:gd name="adj2" fmla="val 20354996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D1B80E9C-CF8A-440B-B8F5-54BF121BF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9536" y="6066084"/>
            <a:ext cx="1913062" cy="791916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199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7DE91-5EE5-4D86-9D2E-A33E6B7FC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3962400" cy="14024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700"/>
              <a:t>Programmer Mode: Binary Logic &amp; Bit-Level Computation Framework</a:t>
            </a:r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30AA70A-EBCD-4DA5-BE00-618C840E25F8}"/>
              </a:ext>
            </a:extLst>
          </p:cNvPr>
          <p:cNvSpPr txBox="1"/>
          <p:nvPr/>
        </p:nvSpPr>
        <p:spPr>
          <a:xfrm>
            <a:off x="762001" y="2551176"/>
            <a:ext cx="3962400" cy="35912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1. Multi-Base Number System Support</a:t>
            </a: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The interface enables real-time conversion between HEX, DEC, OCT, and BIN formats, allowing efficient cross-representation of numerical data.</a:t>
            </a:r>
            <a:endParaRPr lang="en-US" sz="13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2. Integrated Bitwise Logic Operations</a:t>
            </a:r>
            <a:endParaRPr lang="en-US" sz="1300" dirty="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Dedicated dropdown for AND, OR, XOR, and NOT operations provides low-level logical computation essential for programming and digital circuit analysis.</a:t>
            </a:r>
            <a:endParaRPr lang="en-US" sz="13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 3. Advanced Bit Manipulation Controls</a:t>
            </a:r>
            <a:endParaRPr lang="en-US" sz="1300" dirty="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Includes arithmetic shift, logical shift, rotate circular shift, and rotate through carry — demonstrating hardware-level computation simulation.</a:t>
            </a:r>
            <a:endParaRPr lang="en-US" sz="13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 4. Extended Alphanumeric Keypad (A–F)</a:t>
            </a:r>
            <a:endParaRPr lang="en-US" sz="1300" dirty="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Hexadecimal digit buttons (A–F) are seamlessly integrated into the layout, ensuring compatibility with base-16 input without disrupting numeric structure.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2AB11B05-5E59-5B88-D8DB-0E975DEAE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4727" y="0"/>
            <a:ext cx="6927273" cy="6876532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233B45-E0FE-4244-A078-6FCD98593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86597"/>
            <a:ext cx="2658860" cy="40905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B27EE5-1B68-486C-8676-C4B63C36ED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5278" y="1714830"/>
            <a:ext cx="2378539" cy="1626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70A4FD-1526-4EE5-9DB5-D09622C9FD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5278" y="3524333"/>
            <a:ext cx="2378538" cy="202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496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26CAED0A-2A45-4C9C-BCDD-21A8A092C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96133-384E-483A-A5AE-BFA49066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Date Calculation Module: Temporal Computation &amp; Scheduling Framework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E486CF6-E4D1-4ED8-B87E-5AE75EF087AE}"/>
              </a:ext>
            </a:extLst>
          </p:cNvPr>
          <p:cNvSpPr txBox="1"/>
          <p:nvPr/>
        </p:nvSpPr>
        <p:spPr>
          <a:xfrm>
            <a:off x="793660" y="2599509"/>
            <a:ext cx="4160725" cy="3598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/>
              <a:t>1. Dual-Mode Date Processing </a:t>
            </a:r>
            <a:r>
              <a:rPr lang="en-US" sz="1300" dirty="0"/>
              <a:t>System</a:t>
            </a:r>
            <a:endParaRPr lang="en-US" sz="13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The interface supports both date difference calculation and date increment/decrement operations, enabling flexible time-based computations within a single module. 2. Structured Temporal Input Design</a:t>
            </a:r>
            <a:endParaRPr lang="en-US" sz="13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Separate "From" and "To" date selectors ensure logical chronological flow and reduce user input ambiguity.</a:t>
            </a:r>
            <a:endParaRPr lang="en-US" sz="13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3. Granular Time Manipulation Controls</a:t>
            </a:r>
            <a:endParaRPr lang="en-US" sz="13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Year, Month, and Day input fields allow precise temporal adjustments, improving accuracy in long-term scheduling or forecasting calculations.</a:t>
            </a:r>
            <a:endParaRPr lang="en-US" sz="13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/>
              <a:t> 4. Context-Sensitive Interaction Model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Dynamic UI changes (Difference mode vs Add/Subtract mode) adapt the input fields based on selected operation, enhancing usability and reducing visual clutter.</a:t>
            </a:r>
            <a:endParaRPr lang="en-US" sz="1300" dirty="0"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332DA2-49F8-4606-9350-E72E691BF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95" b="4"/>
          <a:stretch>
            <a:fillRect/>
          </a:stretch>
        </p:blipFill>
        <p:spPr>
          <a:xfrm>
            <a:off x="5418759" y="2559047"/>
            <a:ext cx="2741805" cy="363945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02A3A7-D132-412B-B948-7E08C4ABC8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85" b="4"/>
          <a:stretch>
            <a:fillRect/>
          </a:stretch>
        </p:blipFill>
        <p:spPr>
          <a:xfrm>
            <a:off x="8412616" y="2559047"/>
            <a:ext cx="2743620" cy="3639451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38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0FEF1-1F2A-41DD-988A-C46DDB858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Currency Converter Interface: Key Design Insights and Features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F2623A7-3E9F-4D6B-8D46-308B99EE6534}"/>
              </a:ext>
            </a:extLst>
          </p:cNvPr>
          <p:cNvSpPr txBox="1"/>
          <p:nvPr/>
        </p:nvSpPr>
        <p:spPr>
          <a:xfrm>
            <a:off x="4581727" y="649480"/>
            <a:ext cx="3025303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000" dirty="0"/>
              <a:t>1️⃣ Real-Time Exchange Transparency</a:t>
            </a: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The interface clearly displays the live conversion rate (e.g., 1 USD = 90.97147 INR) along with the last updated timestamp.</a:t>
            </a:r>
            <a:endParaRPr lang="en-US" sz="10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✅ Builds trust and credibility</a:t>
            </a:r>
            <a:endParaRPr lang="en-US" sz="10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✅ Enhances financial accuracy awareness</a:t>
            </a:r>
            <a:endParaRPr lang="en-US" sz="10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✅ Makes the app feel dynamic and data-driven</a:t>
            </a:r>
            <a:endParaRPr lang="en-US" sz="10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000" dirty="0"/>
              <a:t>2️⃣ Clean Dark-Themed Financial UI</a:t>
            </a:r>
            <a:endParaRPr lang="en-US" sz="1000" dirty="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The dark background with high-contrast typography improves readability and reduces eye strain.</a:t>
            </a:r>
            <a:endParaRPr lang="en-US" sz="10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✅ Professional and modern aesthetic</a:t>
            </a:r>
            <a:endParaRPr lang="en-US" sz="10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✅ Focus stays on numerical values</a:t>
            </a:r>
            <a:endParaRPr lang="en-US" sz="10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✅ Ideal for frequent or long-duration usage</a:t>
            </a:r>
            <a:endParaRPr lang="en-US" sz="10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000" dirty="0"/>
              <a:t>3️⃣ Seamless Global Currency Access</a:t>
            </a:r>
            <a:endParaRPr lang="en-US" sz="1000" dirty="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The dropdown provides an extensive list of international currencies in a structured format (Country – Currency).</a:t>
            </a:r>
            <a:endParaRPr lang="en-US" sz="10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✅ Easy global accessibility</a:t>
            </a:r>
            <a:endParaRPr lang="en-US" sz="10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✅ Scalable for worldwide users</a:t>
            </a:r>
            <a:endParaRPr lang="en-US" sz="10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✅ Enhances usability for travelers and traders</a:t>
            </a:r>
            <a:endParaRPr lang="en-US" sz="10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000" dirty="0"/>
              <a:t>4️⃣ Optimized Numeric Input Experience</a:t>
            </a:r>
            <a:endParaRPr lang="en-US" sz="1000" dirty="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Large keypad layout with dedicated clear (CE) and delete buttons ensures smooth data entry.</a:t>
            </a:r>
            <a:endParaRPr lang="en-US" sz="10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✅ User-friendly interaction</a:t>
            </a:r>
            <a:endParaRPr lang="en-US" sz="10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✅ Reduces input errors</a:t>
            </a:r>
            <a:endParaRPr lang="en-US" sz="10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✅ Familiar calculator experience for all age groups</a:t>
            </a:r>
            <a:endParaRPr lang="en-US" sz="1000" dirty="0">
              <a:ea typeface="Calibri"/>
              <a:cs typeface="Calibri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FBCB10-A2FE-4F96-94D6-DEC36756EF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502" y="664229"/>
            <a:ext cx="3615776" cy="554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81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0316A3-6480-4A47-9E85-8152DC72C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Designing an Intuitive and Scalable Volume Conversion Interface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CD7A7F-7234-4810-B5BD-46303AA403A8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1️⃣ Bidirectional Conversion Control</a:t>
            </a: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The swap button allows users to instantly reverse conversion units </a:t>
            </a:r>
            <a:r>
              <a:rPr lang="en-US" sz="1300"/>
              <a:t>(Liters</a:t>
            </a:r>
            <a:r>
              <a:rPr lang="en-US" sz="1300" dirty="0"/>
              <a:t> ↔ Milliliters), improving efficiency and eliminating the need for manual re-selection.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2️⃣ Wide Range of Measurement Units</a:t>
            </a:r>
            <a:endParaRPr lang="en-US" sz="1300" dirty="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Supports multiple volume units including Liters, Milliliters, Cubic meters, Teaspoons, and Gallons, making the tool versatile for scientific, daily, and international use.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3️⃣ Minimal and Focused Layout</a:t>
            </a:r>
            <a:endParaRPr lang="en-US" sz="1300" dirty="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The interface highlights only essential elements—input, output, and unit selection—reducing cognitive load and enabling faster, distraction-free conversions.</a:t>
            </a:r>
            <a:endParaRPr lang="en-US" sz="13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4️⃣ Consistent Calculator Interaction Model</a:t>
            </a:r>
            <a:endParaRPr lang="en-US" sz="1300" dirty="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The familiar numeric keypad with clear and delete options ensures accurate input and provides a smooth, error-controlled user experience.</a:t>
            </a:r>
            <a:endParaRPr lang="en-US" sz="1300" dirty="0">
              <a:ea typeface="Calibri"/>
              <a:cs typeface="Calibri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823D2F-CEEB-4995-BB67-F0B1EACA6E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836" y="489118"/>
            <a:ext cx="3580235" cy="5466007"/>
          </a:xfrm>
          <a:prstGeom prst="rect">
            <a:avLst/>
          </a:prstGeom>
        </p:spPr>
      </p:pic>
      <p:sp>
        <p:nvSpPr>
          <p:cNvPr id="108" name="Rectangle 107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6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D4C74C1C-EF2E-40CF-A712-656E694E6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15D6C1-02DF-49DC-9FE5-535CC2F5B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4783" y="349664"/>
            <a:ext cx="5845571" cy="16383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Efficient Digital Data Conversion with Intuitive Interface Design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6441" y="6131892"/>
            <a:ext cx="524256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998176" y="277912"/>
            <a:ext cx="524256" cy="118633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185" y="399675"/>
            <a:ext cx="4647368" cy="5809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237CC5-51BA-4D0B-B3FC-5AE38CA920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22" y="627954"/>
            <a:ext cx="3479692" cy="53533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3B14F3-6E00-4522-97C3-01519157594F}"/>
              </a:ext>
            </a:extLst>
          </p:cNvPr>
          <p:cNvSpPr txBox="1"/>
          <p:nvPr/>
        </p:nvSpPr>
        <p:spPr>
          <a:xfrm>
            <a:off x="5766262" y="2620641"/>
            <a:ext cx="5837750" cy="3023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1️⃣ Support for Multiple Digital Storage Units</a:t>
            </a: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The interface enables conversion between various data units such as Gigabytes, Megabytes, and others, making it useful for technical, academic, and general computing needs.</a:t>
            </a:r>
            <a:endParaRPr lang="en-US" sz="13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2️⃣ Quick Unit Switching for Flexible Workflow</a:t>
            </a:r>
            <a:endParaRPr lang="en-US" sz="1300" dirty="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The dedicated swap control allows users to instantly reverse conversion direction, improving speed and enhancing workflow efficiency.</a:t>
            </a:r>
            <a:endParaRPr lang="en-US" sz="13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3️⃣ Clear Visual Separation of Input and Output</a:t>
            </a:r>
            <a:endParaRPr lang="en-US" sz="1300" dirty="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Distinct placement of input and result values ensures users can easily differentiate between entered data and converted output, reducing confusion.</a:t>
            </a:r>
            <a:endParaRPr lang="en-US" sz="13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4️⃣ Consistent and Scalable Design Architecture</a:t>
            </a:r>
            <a:endParaRPr lang="en-US" sz="1300" dirty="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The interface follows a uniform layout pattern, allowing easy extension to additional unit categories while maintaining usability consistency.</a:t>
            </a:r>
            <a:endParaRPr lang="en-US" sz="13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5054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CCD3A0-C59D-4ECF-B83F-256E5BAE6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Accurate Speed Conversion with Streamlined User Interaction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B18ECF-0FD2-4208-B6AD-9BD01AF2F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202" y="511293"/>
            <a:ext cx="3739341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4A7CA1-B26C-4FC8-B387-D7A77FE32698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1️⃣ Real-World Unit Relevance</a:t>
            </a: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Supports commonly used speed units like Miles per hour and Kilometers per hour, making it practical for travel, automotive, and academic applications.</a:t>
            </a:r>
            <a:endParaRPr lang="en-US" sz="15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2️⃣ Instant Direction Reversal</a:t>
            </a:r>
            <a:endParaRPr lang="en-US" sz="1500" dirty="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The integrated swap feature allows quick interchange of units, enabling fast comparative analysis without re-entering data.</a:t>
            </a:r>
            <a:endParaRPr lang="en-US" sz="15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3️⃣ High-Visibility Numerical Display</a:t>
            </a:r>
            <a:endParaRPr lang="en-US" sz="1500" dirty="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Large, clearly separated input and output values enhance readability and minimize misinterpretation during conversions.</a:t>
            </a:r>
            <a:endParaRPr lang="en-US" sz="15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4️⃣ Uniform Cross-Module Design</a:t>
            </a:r>
            <a:endParaRPr lang="en-US" sz="1500" dirty="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Maintains consistent layout and interaction patterns across converter types, improving user familiarity and reducing the learning curve.</a:t>
            </a:r>
            <a:endParaRPr lang="en-US" sz="15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1066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1" name="Rectangle 120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4" name="Rectangle 12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F5DC95-C65F-4521-B691-D3AF8544A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Precise Length Conversion with User-Friendly Interface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1513F6-B52B-4A7B-BC3B-DB36B7535C8E}"/>
              </a:ext>
            </a:extLst>
          </p:cNvPr>
          <p:cNvSpPr txBox="1"/>
          <p:nvPr/>
        </p:nvSpPr>
        <p:spPr>
          <a:xfrm>
            <a:off x="1045029" y="2524721"/>
            <a:ext cx="4991629" cy="3677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/>
              <a:t>1️⃣ Practical Measurement Unit Support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Includes commonly used units like Inches and Centimeters, making it suitable for academic, engineering, and everyday measurement tasks.</a:t>
            </a:r>
            <a:endParaRPr lang="en-US" sz="14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/>
              <a:t>2️⃣ Efficient Two-Way Conversion Mechanism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The swap control enables instant reversal between units, allowing users to perform conversions quickly without additional steps.</a:t>
            </a:r>
            <a:endParaRPr lang="en-US" sz="14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/>
              <a:t>3️⃣ Clear and Structured Information Layout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The vertical arrangement of units and values ensures logical flow, helping users easily understand the conversion process.</a:t>
            </a:r>
            <a:endParaRPr lang="en-US" sz="14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/>
              <a:t>4️⃣ Familiar and Error-Resistant Input System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Integrated calculator keypad with clear and delete functions ensures accurate input and smooth interaction.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EAB487-F8D6-4C7F-84CB-405934A01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139" y="901032"/>
            <a:ext cx="3299960" cy="5116220"/>
          </a:xfrm>
          <a:prstGeom prst="rect">
            <a:avLst/>
          </a:prstGeom>
        </p:spPr>
      </p:pic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775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FB72C-8D86-4AC7-8957-16417914B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Accurate Angle Conversion with Multi-Unit Representation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65E9AE-A175-4EAD-A980-706FA8F51B05}"/>
              </a:ext>
            </a:extLst>
          </p:cNvPr>
          <p:cNvSpPr txBox="1"/>
          <p:nvPr/>
        </p:nvSpPr>
        <p:spPr>
          <a:xfrm>
            <a:off x="838200" y="1825625"/>
            <a:ext cx="539336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1️⃣ Multi-Unit Angle Representation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Supports conversion between Degrees, Radians, and Grad, making it useful for mathematics, engineering, and scientific applications.</a:t>
            </a:r>
            <a:endParaRPr lang="en-US" sz="17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2️⃣ Simultaneous Conversion Display</a:t>
            </a:r>
            <a:endParaRPr lang="en-US" sz="170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Shows equivalent values across different angle units at the same time, allowing users to compare results instantly without switching views.</a:t>
            </a:r>
            <a:endParaRPr lang="en-US" sz="17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3️⃣ Informative Approximation Feature</a:t>
            </a:r>
            <a:endParaRPr lang="en-US" sz="170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The “About equal to” section provides an additional reference value, enhancing user understanding of equivalent measurements.</a:t>
            </a:r>
            <a:endParaRPr lang="en-US" sz="17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/>
              <a:t>4️⃣ Simple and Precision-Focused Layout</a:t>
            </a:r>
            <a:endParaRPr lang="en-US" sz="170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Minimal interface design ensures focus on accuracy and clarity, helping users perform conversions efficiently.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F0A0C8-C679-4BEE-AD7F-0428FC02E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8784" y="1176557"/>
            <a:ext cx="2557850" cy="3860908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36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4" name="Arc 9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DD311C-520E-4C18-B46E-CC1CAF9DC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b="1" dirty="0">
                <a:ea typeface="+mj-lt"/>
                <a:cs typeface="+mj-lt"/>
              </a:rPr>
              <a:t>Final Conclusion</a:t>
            </a:r>
            <a:endParaRPr lang="en-IN" b="1" dirty="0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6" name="Graphic 95" descr="Calculator">
            <a:extLst>
              <a:ext uri="{FF2B5EF4-FFF2-40B4-BE49-F238E27FC236}">
                <a16:creationId xmlns:a16="http://schemas.microsoft.com/office/drawing/2014/main" id="{BD0259C2-AF2B-8889-54C0-B36AD9B14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97" name="Content Placeholder 2">
            <a:extLst>
              <a:ext uri="{FF2B5EF4-FFF2-40B4-BE49-F238E27FC236}">
                <a16:creationId xmlns:a16="http://schemas.microsoft.com/office/drawing/2014/main" id="{E92DAA4D-688E-41D3-BFE5-AE8C9A598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Successfully designed and developed a </a:t>
            </a:r>
            <a:r>
              <a:rPr lang="en-US" sz="1500" b="1" dirty="0"/>
              <a:t>multi-functional unit converter calculator</a:t>
            </a:r>
            <a:r>
              <a:rPr lang="en-US" sz="1500" dirty="0"/>
              <a:t> with an intuitive and user-friendly interface.</a:t>
            </a:r>
          </a:p>
          <a:p>
            <a:r>
              <a:rPr lang="en-US" sz="1500" dirty="0"/>
              <a:t>The system supports </a:t>
            </a:r>
            <a:r>
              <a:rPr lang="en-US" sz="1500" b="1" dirty="0"/>
              <a:t>multiple conversion categories</a:t>
            </a:r>
            <a:r>
              <a:rPr lang="en-US" sz="1500" dirty="0"/>
              <a:t>, including Standard, Scientific, Programmer, Currency, Length, Speed, Volume, Data, and Angle, etc. making it versatile and practical.</a:t>
            </a:r>
            <a:endParaRPr lang="en-US" sz="1500" dirty="0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The application ensures </a:t>
            </a:r>
            <a:r>
              <a:rPr lang="en-US" sz="1500" b="1" dirty="0"/>
              <a:t>high accuracy, real-time functionality, and efficient user interaction</a:t>
            </a:r>
            <a:r>
              <a:rPr lang="en-US" sz="1500" dirty="0"/>
              <a:t> through a consistent and structured design.</a:t>
            </a:r>
            <a:endParaRPr lang="en-US" sz="1500" dirty="0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Features like </a:t>
            </a:r>
            <a:r>
              <a:rPr lang="en-US" sz="1500" b="1" dirty="0"/>
              <a:t>instant unit switching, clear input controls, and organized layout</a:t>
            </a:r>
            <a:r>
              <a:rPr lang="en-US" sz="1500" dirty="0"/>
              <a:t> enhance usability and reduce user effort.</a:t>
            </a:r>
            <a:endParaRPr lang="en-US" sz="1500" dirty="0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The modular and scalable design allows </a:t>
            </a:r>
            <a:r>
              <a:rPr lang="en-US" sz="1500" b="1" dirty="0"/>
              <a:t>easy expansion to support additional unit categories in the future</a:t>
            </a:r>
            <a:r>
              <a:rPr lang="en-US" sz="1500" dirty="0"/>
              <a:t>.</a:t>
            </a:r>
            <a:endParaRPr lang="en-US" sz="1500" dirty="0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Overall, the project demonstrates effective integration of </a:t>
            </a:r>
            <a:r>
              <a:rPr lang="en-US" sz="1500" b="1" dirty="0"/>
              <a:t>UI design, logical processing, and real-world functionality</a:t>
            </a:r>
            <a:r>
              <a:rPr lang="en-US" sz="1500" dirty="0"/>
              <a:t> into a reliable conversion tool.</a:t>
            </a:r>
            <a:endParaRPr lang="en-US" sz="1500" dirty="0">
              <a:ea typeface="Calibri"/>
              <a:cs typeface="Calibri"/>
            </a:endParaRPr>
          </a:p>
          <a:p>
            <a:endParaRPr lang="en-IN" sz="1500"/>
          </a:p>
        </p:txBody>
      </p:sp>
    </p:spTree>
    <p:extLst>
      <p:ext uri="{BB962C8B-B14F-4D97-AF65-F5344CB8AC3E}">
        <p14:creationId xmlns:p14="http://schemas.microsoft.com/office/powerpoint/2010/main" val="3928143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99ECB7-1218-4864-8AF5-48DC1E97A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 b="1" dirty="0">
                <a:ea typeface="+mj-lt"/>
                <a:cs typeface="+mj-lt"/>
              </a:rPr>
              <a:t>Thank You</a:t>
            </a:r>
            <a:endParaRPr lang="en-IN" sz="4800" b="1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BA74C-B48E-4158-8B97-82C29B8ED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r>
              <a:rPr lang="en-US" sz="2200"/>
              <a:t>Thank you for your time and attention.</a:t>
            </a:r>
          </a:p>
          <a:p>
            <a:r>
              <a:rPr lang="en-US" sz="2200"/>
              <a:t>This project represents the successful development of a </a:t>
            </a:r>
            <a:r>
              <a:rPr lang="en-US" sz="2200" b="1"/>
              <a:t>multi-functional unit converter calculator</a:t>
            </a:r>
            <a:r>
              <a:rPr lang="en-US" sz="2200"/>
              <a:t> with a focus on accuracy, usability, and efficient interface design.</a:t>
            </a:r>
          </a:p>
          <a:p>
            <a:r>
              <a:rPr lang="en-US" sz="2200"/>
              <a:t>Your valuable feedback and suggestions are welcome.</a:t>
            </a:r>
          </a:p>
          <a:p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253953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144</TotalTime>
  <Words>1904</Words>
  <Application>Microsoft Office PowerPoint</Application>
  <PresentationFormat>Widescreen</PresentationFormat>
  <Paragraphs>202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Next-Generation Multi-Functional Calculator</vt:lpstr>
      <vt:lpstr>Introduction </vt:lpstr>
      <vt:lpstr>Project Overview</vt:lpstr>
      <vt:lpstr>Problem Statement</vt:lpstr>
      <vt:lpstr>Learning Outcomes</vt:lpstr>
      <vt:lpstr>UI/UX Design Insights &amp; Interface Analysis </vt:lpstr>
      <vt:lpstr>Advanced Scientific Calculator Interface &amp; Functional Design</vt:lpstr>
      <vt:lpstr>Programmer Mode: Binary Logic &amp; Bit-Level Computation Framework</vt:lpstr>
      <vt:lpstr>Date Calculation Module: Temporal Computation &amp; Scheduling Framework</vt:lpstr>
      <vt:lpstr>Currency Converter Interface: Key Design Insights and Features</vt:lpstr>
      <vt:lpstr>Designing an Intuitive and Scalable Volume Conversion Interface</vt:lpstr>
      <vt:lpstr>Efficient Digital Data Conversion with Intuitive Interface Design</vt:lpstr>
      <vt:lpstr>Accurate Speed Conversion with Streamlined User Interaction</vt:lpstr>
      <vt:lpstr>Precise Length Conversion with User-Friendly Interface Design</vt:lpstr>
      <vt:lpstr>Accurate Angle Conversion with Multi-Unit Representation</vt:lpstr>
      <vt:lpstr>Final 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2468rathiyug@gmail.com</dc:creator>
  <cp:lastModifiedBy>2468rathiyug@gmail.com</cp:lastModifiedBy>
  <cp:revision>364</cp:revision>
  <dcterms:created xsi:type="dcterms:W3CDTF">2026-02-22T08:50:33Z</dcterms:created>
  <dcterms:modified xsi:type="dcterms:W3CDTF">2026-02-22T18:17:46Z</dcterms:modified>
</cp:coreProperties>
</file>